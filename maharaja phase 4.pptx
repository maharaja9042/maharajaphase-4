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Relationship Id="rId19" Type="http://schemas.openxmlformats.org/officeDocument/2006/relationships/image" Target="../media/image50.png"/><Relationship Id="rId20" Type="http://schemas.openxmlformats.org/officeDocument/2006/relationships/image" Target="../media/image51.png"/><Relationship Id="rId21" Type="http://schemas.openxmlformats.org/officeDocument/2006/relationships/image" Target="../media/image52.png"/><Relationship Id="rId22" Type="http://schemas.openxmlformats.org/officeDocument/2006/relationships/image" Target="../media/image53.png"/><Relationship Id="rId23" Type="http://schemas.openxmlformats.org/officeDocument/2006/relationships/image" Target="../media/image5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87.png"/><Relationship Id="rId13" Type="http://schemas.openxmlformats.org/officeDocument/2006/relationships/image" Target="../media/image88.png"/><Relationship Id="rId14" Type="http://schemas.openxmlformats.org/officeDocument/2006/relationships/image" Target="../media/image89.png"/><Relationship Id="rId15" Type="http://schemas.openxmlformats.org/officeDocument/2006/relationships/image" Target="../media/image90.png"/><Relationship Id="rId16" Type="http://schemas.openxmlformats.org/officeDocument/2006/relationships/image" Target="../media/image91.png"/><Relationship Id="rId17" Type="http://schemas.openxmlformats.org/officeDocument/2006/relationships/image" Target="../media/image92.png"/><Relationship Id="rId18" Type="http://schemas.openxmlformats.org/officeDocument/2006/relationships/image" Target="../media/image9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Relationship Id="rId20" Type="http://schemas.openxmlformats.org/officeDocument/2006/relationships/image" Target="../media/image112.png"/><Relationship Id="rId21" Type="http://schemas.openxmlformats.org/officeDocument/2006/relationships/image" Target="../media/image113.png"/><Relationship Id="rId22" Type="http://schemas.openxmlformats.org/officeDocument/2006/relationships/image" Target="../media/image114.png"/><Relationship Id="rId23" Type="http://schemas.openxmlformats.org/officeDocument/2006/relationships/image" Target="../media/image115.png"/><Relationship Id="rId24" Type="http://schemas.openxmlformats.org/officeDocument/2006/relationships/image" Target="../media/image116.png"/><Relationship Id="rId25" Type="http://schemas.openxmlformats.org/officeDocument/2006/relationships/image" Target="../media/image117.png"/><Relationship Id="rId26" Type="http://schemas.openxmlformats.org/officeDocument/2006/relationships/image" Target="../media/image118.png"/><Relationship Id="rId27" Type="http://schemas.openxmlformats.org/officeDocument/2006/relationships/image" Target="../media/image119.png"/><Relationship Id="rId28" Type="http://schemas.openxmlformats.org/officeDocument/2006/relationships/image" Target="../media/image12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Relationship Id="rId8" Type="http://schemas.openxmlformats.org/officeDocument/2006/relationships/image" Target="../media/image154.png"/><Relationship Id="rId9" Type="http://schemas.openxmlformats.org/officeDocument/2006/relationships/image" Target="../media/image82.png"/><Relationship Id="rId10" Type="http://schemas.openxmlformats.org/officeDocument/2006/relationships/image" Target="../media/image155.png"/><Relationship Id="rId11" Type="http://schemas.openxmlformats.org/officeDocument/2006/relationships/image" Target="../media/image85.png"/><Relationship Id="rId12" Type="http://schemas.openxmlformats.org/officeDocument/2006/relationships/image" Target="../media/image156.png"/><Relationship Id="rId13" Type="http://schemas.openxmlformats.org/officeDocument/2006/relationships/image" Target="../media/image157.png"/><Relationship Id="rId14" Type="http://schemas.openxmlformats.org/officeDocument/2006/relationships/image" Target="../media/image87.png"/><Relationship Id="rId15" Type="http://schemas.openxmlformats.org/officeDocument/2006/relationships/image" Target="../media/image158.png"/><Relationship Id="rId16" Type="http://schemas.openxmlformats.org/officeDocument/2006/relationships/image" Target="../media/image159.png"/><Relationship Id="rId17" Type="http://schemas.openxmlformats.org/officeDocument/2006/relationships/image" Target="../media/image160.png"/><Relationship Id="rId18" Type="http://schemas.openxmlformats.org/officeDocument/2006/relationships/image" Target="../media/image161.png"/><Relationship Id="rId19" Type="http://schemas.openxmlformats.org/officeDocument/2006/relationships/image" Target="../media/image162.png"/><Relationship Id="rId20" Type="http://schemas.openxmlformats.org/officeDocument/2006/relationships/image" Target="../media/image163.png"/><Relationship Id="rId21" Type="http://schemas.openxmlformats.org/officeDocument/2006/relationships/image" Target="../media/image164.png"/><Relationship Id="rId22" Type="http://schemas.openxmlformats.org/officeDocument/2006/relationships/image" Target="../media/image165.png"/><Relationship Id="rId23" Type="http://schemas.openxmlformats.org/officeDocument/2006/relationships/image" Target="../media/image166.png"/><Relationship Id="rId24" Type="http://schemas.openxmlformats.org/officeDocument/2006/relationships/image" Target="../media/image167.png"/><Relationship Id="rId25" Type="http://schemas.openxmlformats.org/officeDocument/2006/relationships/image" Target="../media/image168.png"/><Relationship Id="rId26" Type="http://schemas.openxmlformats.org/officeDocument/2006/relationships/image" Target="../media/image169.png"/><Relationship Id="rId27" Type="http://schemas.openxmlformats.org/officeDocument/2006/relationships/image" Target="../media/image170.png"/><Relationship Id="rId28" Type="http://schemas.openxmlformats.org/officeDocument/2006/relationships/image" Target="../media/image171.png"/><Relationship Id="rId29" Type="http://schemas.openxmlformats.org/officeDocument/2006/relationships/image" Target="../media/image172.png"/><Relationship Id="rId30" Type="http://schemas.openxmlformats.org/officeDocument/2006/relationships/image" Target="../media/image17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4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82.png"/><Relationship Id="rId11" Type="http://schemas.openxmlformats.org/officeDocument/2006/relationships/image" Target="../media/image183.png"/><Relationship Id="rId12" Type="http://schemas.openxmlformats.org/officeDocument/2006/relationships/image" Target="../media/image184.png"/><Relationship Id="rId13" Type="http://schemas.openxmlformats.org/officeDocument/2006/relationships/image" Target="../media/image185.png"/><Relationship Id="rId14" Type="http://schemas.openxmlformats.org/officeDocument/2006/relationships/image" Target="../media/image186.png"/><Relationship Id="rId15" Type="http://schemas.openxmlformats.org/officeDocument/2006/relationships/image" Target="../media/image187.png"/><Relationship Id="rId16" Type="http://schemas.openxmlformats.org/officeDocument/2006/relationships/image" Target="../media/image188.png"/><Relationship Id="rId17" Type="http://schemas.openxmlformats.org/officeDocument/2006/relationships/image" Target="../media/image189.png"/><Relationship Id="rId18" Type="http://schemas.openxmlformats.org/officeDocument/2006/relationships/image" Target="../media/image190.png"/><Relationship Id="rId19" Type="http://schemas.openxmlformats.org/officeDocument/2006/relationships/image" Target="../media/image191.png"/><Relationship Id="rId20" Type="http://schemas.openxmlformats.org/officeDocument/2006/relationships/image" Target="../media/image192.png"/><Relationship Id="rId21" Type="http://schemas.openxmlformats.org/officeDocument/2006/relationships/image" Target="../media/image193.png"/><Relationship Id="rId22" Type="http://schemas.openxmlformats.org/officeDocument/2006/relationships/image" Target="../media/image194.png"/><Relationship Id="rId23" Type="http://schemas.openxmlformats.org/officeDocument/2006/relationships/image" Target="../media/image195.png"/><Relationship Id="rId24" Type="http://schemas.openxmlformats.org/officeDocument/2006/relationships/image" Target="../media/image196.png"/><Relationship Id="rId25" Type="http://schemas.openxmlformats.org/officeDocument/2006/relationships/image" Target="../media/image197.png"/><Relationship Id="rId26" Type="http://schemas.openxmlformats.org/officeDocument/2006/relationships/image" Target="../media/image198.png"/><Relationship Id="rId27" Type="http://schemas.openxmlformats.org/officeDocument/2006/relationships/image" Target="../media/image199.png"/><Relationship Id="rId28" Type="http://schemas.openxmlformats.org/officeDocument/2006/relationships/image" Target="../media/image200.png"/><Relationship Id="rId29" Type="http://schemas.openxmlformats.org/officeDocument/2006/relationships/image" Target="../media/image201.png"/><Relationship Id="rId30" Type="http://schemas.openxmlformats.org/officeDocument/2006/relationships/image" Target="../media/image202.png"/><Relationship Id="rId31" Type="http://schemas.openxmlformats.org/officeDocument/2006/relationships/image" Target="../media/image203.png"/><Relationship Id="rId32" Type="http://schemas.openxmlformats.org/officeDocument/2006/relationships/image" Target="../media/image204.png"/><Relationship Id="rId33" Type="http://schemas.openxmlformats.org/officeDocument/2006/relationships/image" Target="../media/image205.png"/><Relationship Id="rId34" Type="http://schemas.openxmlformats.org/officeDocument/2006/relationships/image" Target="../media/image206.png"/><Relationship Id="rId35" Type="http://schemas.openxmlformats.org/officeDocument/2006/relationships/image" Target="../media/image207.png"/><Relationship Id="rId36" Type="http://schemas.openxmlformats.org/officeDocument/2006/relationships/image" Target="../media/image20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9.png"/><Relationship Id="rId3" Type="http://schemas.openxmlformats.org/officeDocument/2006/relationships/image" Target="../media/image210.png"/><Relationship Id="rId4" Type="http://schemas.openxmlformats.org/officeDocument/2006/relationships/image" Target="../media/image211.png"/><Relationship Id="rId5" Type="http://schemas.openxmlformats.org/officeDocument/2006/relationships/image" Target="../media/image212.png"/><Relationship Id="rId6" Type="http://schemas.openxmlformats.org/officeDocument/2006/relationships/image" Target="../media/image213.png"/><Relationship Id="rId7" Type="http://schemas.openxmlformats.org/officeDocument/2006/relationships/image" Target="../media/image214.png"/><Relationship Id="rId8" Type="http://schemas.openxmlformats.org/officeDocument/2006/relationships/image" Target="../media/image215.png"/><Relationship Id="rId9" Type="http://schemas.openxmlformats.org/officeDocument/2006/relationships/image" Target="../media/image216.png"/><Relationship Id="rId10" Type="http://schemas.openxmlformats.org/officeDocument/2006/relationships/image" Target="../media/image217.png"/><Relationship Id="rId11" Type="http://schemas.openxmlformats.org/officeDocument/2006/relationships/image" Target="../media/image218.png"/><Relationship Id="rId12" Type="http://schemas.openxmlformats.org/officeDocument/2006/relationships/image" Target="../media/image219.png"/><Relationship Id="rId13" Type="http://schemas.openxmlformats.org/officeDocument/2006/relationships/image" Target="../media/image220.png"/><Relationship Id="rId14" Type="http://schemas.openxmlformats.org/officeDocument/2006/relationships/image" Target="../media/image221.png"/><Relationship Id="rId15" Type="http://schemas.openxmlformats.org/officeDocument/2006/relationships/image" Target="../media/image222.png"/><Relationship Id="rId16" Type="http://schemas.openxmlformats.org/officeDocument/2006/relationships/image" Target="../media/image223.png"/><Relationship Id="rId17" Type="http://schemas.openxmlformats.org/officeDocument/2006/relationships/image" Target="../media/image183.png"/><Relationship Id="rId18" Type="http://schemas.openxmlformats.org/officeDocument/2006/relationships/image" Target="../media/image224.png"/><Relationship Id="rId19" Type="http://schemas.openxmlformats.org/officeDocument/2006/relationships/image" Target="../media/image22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6.png"/><Relationship Id="rId3" Type="http://schemas.openxmlformats.org/officeDocument/2006/relationships/image" Target="../media/image227.png"/><Relationship Id="rId4" Type="http://schemas.openxmlformats.org/officeDocument/2006/relationships/image" Target="../media/image228.png"/><Relationship Id="rId5" Type="http://schemas.openxmlformats.org/officeDocument/2006/relationships/image" Target="../media/image229.png"/><Relationship Id="rId6" Type="http://schemas.openxmlformats.org/officeDocument/2006/relationships/image" Target="../media/image230.png"/><Relationship Id="rId7" Type="http://schemas.openxmlformats.org/officeDocument/2006/relationships/image" Target="../media/image231.png"/><Relationship Id="rId8" Type="http://schemas.openxmlformats.org/officeDocument/2006/relationships/image" Target="../media/image232.png"/><Relationship Id="rId9" Type="http://schemas.openxmlformats.org/officeDocument/2006/relationships/image" Target="../media/image233.png"/><Relationship Id="rId10" Type="http://schemas.openxmlformats.org/officeDocument/2006/relationships/image" Target="../media/image234.png"/><Relationship Id="rId11" Type="http://schemas.openxmlformats.org/officeDocument/2006/relationships/image" Target="../media/image235.png"/><Relationship Id="rId12" Type="http://schemas.openxmlformats.org/officeDocument/2006/relationships/image" Target="../media/image236.png"/><Relationship Id="rId13" Type="http://schemas.openxmlformats.org/officeDocument/2006/relationships/image" Target="../media/image237.png"/><Relationship Id="rId14" Type="http://schemas.openxmlformats.org/officeDocument/2006/relationships/image" Target="../media/image238.png"/><Relationship Id="rId15" Type="http://schemas.openxmlformats.org/officeDocument/2006/relationships/image" Target="../media/image239.png"/><Relationship Id="rId16" Type="http://schemas.openxmlformats.org/officeDocument/2006/relationships/image" Target="../media/image240.png"/><Relationship Id="rId17" Type="http://schemas.openxmlformats.org/officeDocument/2006/relationships/image" Target="../media/image123.png"/><Relationship Id="rId18" Type="http://schemas.openxmlformats.org/officeDocument/2006/relationships/image" Target="../media/image241.png"/><Relationship Id="rId19" Type="http://schemas.openxmlformats.org/officeDocument/2006/relationships/image" Target="../media/image242.png"/><Relationship Id="rId20" Type="http://schemas.openxmlformats.org/officeDocument/2006/relationships/image" Target="../media/image243.png"/><Relationship Id="rId21" Type="http://schemas.openxmlformats.org/officeDocument/2006/relationships/image" Target="../media/image244.png"/><Relationship Id="rId22" Type="http://schemas.openxmlformats.org/officeDocument/2006/relationships/image" Target="../media/image24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6.png"/><Relationship Id="rId3" Type="http://schemas.openxmlformats.org/officeDocument/2006/relationships/image" Target="../media/image247.png"/><Relationship Id="rId4" Type="http://schemas.openxmlformats.org/officeDocument/2006/relationships/image" Target="../media/image248.png"/><Relationship Id="rId5" Type="http://schemas.openxmlformats.org/officeDocument/2006/relationships/image" Target="../media/image249.png"/><Relationship Id="rId6" Type="http://schemas.openxmlformats.org/officeDocument/2006/relationships/image" Target="../media/image250.png"/><Relationship Id="rId7" Type="http://schemas.openxmlformats.org/officeDocument/2006/relationships/image" Target="../media/image183.png"/><Relationship Id="rId8" Type="http://schemas.openxmlformats.org/officeDocument/2006/relationships/image" Target="../media/image251.png"/><Relationship Id="rId9" Type="http://schemas.openxmlformats.org/officeDocument/2006/relationships/image" Target="../media/image252.png"/><Relationship Id="rId10" Type="http://schemas.openxmlformats.org/officeDocument/2006/relationships/image" Target="../media/image253.png"/><Relationship Id="rId11" Type="http://schemas.openxmlformats.org/officeDocument/2006/relationships/image" Target="../media/image254.png"/><Relationship Id="rId12" Type="http://schemas.openxmlformats.org/officeDocument/2006/relationships/image" Target="../media/image25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6.png"/><Relationship Id="rId3" Type="http://schemas.openxmlformats.org/officeDocument/2006/relationships/image" Target="../media/image114.png"/><Relationship Id="rId4" Type="http://schemas.openxmlformats.org/officeDocument/2006/relationships/image" Target="../media/image257.png"/><Relationship Id="rId5" Type="http://schemas.openxmlformats.org/officeDocument/2006/relationships/image" Target="../media/image258.png"/><Relationship Id="rId6" Type="http://schemas.openxmlformats.org/officeDocument/2006/relationships/image" Target="../media/image259.png"/><Relationship Id="rId7" Type="http://schemas.openxmlformats.org/officeDocument/2006/relationships/image" Target="../media/image260.png"/><Relationship Id="rId8" Type="http://schemas.openxmlformats.org/officeDocument/2006/relationships/image" Target="../media/image261.png"/><Relationship Id="rId9" Type="http://schemas.openxmlformats.org/officeDocument/2006/relationships/image" Target="../media/image262.png"/><Relationship Id="rId10" Type="http://schemas.openxmlformats.org/officeDocument/2006/relationships/image" Target="../media/image263.png"/><Relationship Id="rId11" Type="http://schemas.openxmlformats.org/officeDocument/2006/relationships/image" Target="../media/image264.png"/><Relationship Id="rId12" Type="http://schemas.openxmlformats.org/officeDocument/2006/relationships/image" Target="../media/image265.png"/><Relationship Id="rId13" Type="http://schemas.openxmlformats.org/officeDocument/2006/relationships/image" Target="../media/image266.png"/><Relationship Id="rId14" Type="http://schemas.openxmlformats.org/officeDocument/2006/relationships/image" Target="../media/image267.png"/><Relationship Id="rId15" Type="http://schemas.openxmlformats.org/officeDocument/2006/relationships/image" Target="../media/image26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9.png"/><Relationship Id="rId3" Type="http://schemas.openxmlformats.org/officeDocument/2006/relationships/image" Target="../media/image27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673860"/>
            <a:ext cx="1039494" cy="6603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2012" y="2854970"/>
            <a:ext cx="349646" cy="159196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649214" y="2854970"/>
            <a:ext cx="2800985" cy="706120"/>
            <a:chOff x="1649214" y="2854970"/>
            <a:chExt cx="2800985" cy="70612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2968" y="2862609"/>
              <a:ext cx="499725" cy="15721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9214" y="2854970"/>
              <a:ext cx="2800647" cy="705723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26389" y="3103255"/>
            <a:ext cx="568910" cy="20915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0307" y="3103255"/>
            <a:ext cx="1175900" cy="20915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6060" y="3636655"/>
            <a:ext cx="628540" cy="1591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51920" y="3644295"/>
            <a:ext cx="2031413" cy="15721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59135" y="3921770"/>
            <a:ext cx="560982" cy="15919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47993" y="3929162"/>
            <a:ext cx="1429256" cy="15746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9214" y="4217055"/>
            <a:ext cx="374590" cy="14902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57543" y="4214277"/>
            <a:ext cx="1136322" cy="15746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51694" y="4492000"/>
            <a:ext cx="3101925" cy="209153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419222" y="4502170"/>
            <a:ext cx="253583" cy="177551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59260" y="4777115"/>
            <a:ext cx="1077515" cy="178296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014225" y="4777115"/>
            <a:ext cx="1206519" cy="209153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298196" y="4777115"/>
            <a:ext cx="1024225" cy="209153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1135" y="5062230"/>
            <a:ext cx="891291" cy="209153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118241" y="5072400"/>
            <a:ext cx="579110" cy="198983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764035" y="5062230"/>
            <a:ext cx="2154872" cy="20915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989810" y="5072400"/>
            <a:ext cx="631060" cy="19898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48060" y="5632460"/>
            <a:ext cx="1152445" cy="209153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51135" y="6212860"/>
            <a:ext cx="456108" cy="149026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324983" y="6202690"/>
            <a:ext cx="1043166" cy="209153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51135" y="6772920"/>
            <a:ext cx="823257" cy="164851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050405" y="6780560"/>
            <a:ext cx="1131123" cy="154384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63452" y="8030629"/>
            <a:ext cx="483433" cy="223856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219066" y="8019188"/>
            <a:ext cx="1294974" cy="179096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593567" y="8030629"/>
            <a:ext cx="664869" cy="223856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979935" y="8329941"/>
            <a:ext cx="2243445" cy="209153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50118" y="8611482"/>
            <a:ext cx="605494" cy="144245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149207" y="8869936"/>
            <a:ext cx="574021" cy="1353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220" y="940046"/>
            <a:ext cx="1379061" cy="13929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5458" y="1197241"/>
            <a:ext cx="1544528" cy="17536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1220" y="1448055"/>
            <a:ext cx="265589" cy="13039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063" y="1439156"/>
            <a:ext cx="993607" cy="1419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0118" y="1688711"/>
            <a:ext cx="1637130" cy="18300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52912" y="1688711"/>
            <a:ext cx="480169" cy="1392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0118" y="1938266"/>
            <a:ext cx="1662818" cy="18300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1437" y="2187821"/>
            <a:ext cx="3265736" cy="18300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1135" y="2932449"/>
            <a:ext cx="579110" cy="19898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3855" y="2932449"/>
            <a:ext cx="501848" cy="19898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1220" y="3203821"/>
            <a:ext cx="3137883" cy="183008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47427" y="3845807"/>
            <a:ext cx="2054177" cy="18300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66226" y="3854358"/>
            <a:ext cx="520117" cy="13569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50118" y="4684007"/>
            <a:ext cx="1862794" cy="183008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50118" y="5325992"/>
            <a:ext cx="2816564" cy="18300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50118" y="5967977"/>
            <a:ext cx="4208305" cy="18300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422398" y="5967977"/>
            <a:ext cx="912834" cy="14424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0118" y="6806176"/>
            <a:ext cx="2652734" cy="183008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41437" y="7448161"/>
            <a:ext cx="1590171" cy="144245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50118" y="7893931"/>
            <a:ext cx="1610064" cy="18300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50118" y="8339701"/>
            <a:ext cx="1620859" cy="183008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1587500" y="3379469"/>
            <a:ext cx="5057140" cy="535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100" spc="-2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hardware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tokens,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email,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SMS,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authenticator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apps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like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Authy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Google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Authenticator.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Provides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additional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layer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top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password.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241300" marR="267335" indent="-158750">
              <a:lnSpc>
                <a:spcPct val="117000"/>
              </a:lnSpc>
            </a:pPr>
            <a:r>
              <a:rPr dirty="0" sz="1100" spc="-35">
                <a:latin typeface="Cambria"/>
                <a:cs typeface="Cambria"/>
              </a:rPr>
              <a:t>Permit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sign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corporate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SSO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(OAuth,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SAML),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Apple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ID,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Facebook,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or </a:t>
            </a:r>
            <a:r>
              <a:rPr dirty="0" sz="1100" spc="-10">
                <a:latin typeface="Cambria"/>
                <a:cs typeface="Cambria"/>
              </a:rPr>
              <a:t>Google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Makes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onboarding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easier.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82550" marR="894715">
              <a:lnSpc>
                <a:spcPct val="117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one-</a:t>
            </a:r>
            <a:r>
              <a:rPr dirty="0" sz="1100" spc="-55">
                <a:latin typeface="Cambria"/>
                <a:cs typeface="Cambria"/>
              </a:rPr>
              <a:t>time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codes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supplied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SMS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magic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links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sent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email </a:t>
            </a:r>
            <a:r>
              <a:rPr dirty="0" sz="1100" spc="-65">
                <a:latin typeface="Cambria"/>
                <a:cs typeface="Cambria"/>
              </a:rPr>
              <a:t>Minimizes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threats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avoiding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management.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52400" marR="715645">
              <a:lnSpc>
                <a:spcPct val="117000"/>
              </a:lnSpc>
            </a:pP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several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unsuccessful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tries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log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temporarily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lock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account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IP. </a:t>
            </a:r>
            <a:r>
              <a:rPr dirty="0" sz="1100" spc="-65">
                <a:latin typeface="Cambria"/>
                <a:cs typeface="Cambria"/>
              </a:rPr>
              <a:t>Defends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against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attacks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raw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force.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52400">
              <a:lnSpc>
                <a:spcPct val="100000"/>
              </a:lnSpc>
              <a:spcBef>
                <a:spcPts val="5"/>
              </a:spcBef>
            </a:pPr>
            <a:r>
              <a:rPr dirty="0" sz="1100" spc="-80">
                <a:latin typeface="Cambria"/>
                <a:cs typeface="Cambria"/>
              </a:rPr>
              <a:t>Implement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minimum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complexity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guidelines.</a:t>
            </a:r>
            <a:endParaRPr sz="1100">
              <a:latin typeface="Cambria"/>
              <a:cs typeface="Cambria"/>
            </a:endParaRPr>
          </a:p>
          <a:p>
            <a:pPr marL="241300" marR="375285" indent="-158750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Give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tips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how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integrate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managers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(password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autocomplete,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for </a:t>
            </a:r>
            <a:r>
              <a:rPr dirty="0" sz="1100" spc="-10">
                <a:latin typeface="Cambria"/>
                <a:cs typeface="Cambria"/>
              </a:rPr>
              <a:t>example).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82550" marR="1794510">
              <a:lnSpc>
                <a:spcPct val="117000"/>
              </a:lnSpc>
            </a:pPr>
            <a:r>
              <a:rPr dirty="0" sz="1100" spc="-35">
                <a:latin typeface="Cambria"/>
                <a:cs typeface="Cambria"/>
              </a:rPr>
              <a:t>Permit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remove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active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devices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sessions.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Supports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device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logouts.</a:t>
            </a:r>
            <a:endParaRPr sz="1100">
              <a:latin typeface="Cambria"/>
              <a:cs typeface="Cambria"/>
            </a:endParaRPr>
          </a:p>
          <a:p>
            <a:pPr marL="82550" marR="38100" indent="-69850">
              <a:lnSpc>
                <a:spcPct val="265900"/>
              </a:lnSpc>
            </a:pPr>
            <a:r>
              <a:rPr dirty="0" sz="1100" spc="-45">
                <a:latin typeface="Cambria"/>
                <a:cs typeface="Cambria"/>
              </a:rPr>
              <a:t>When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hardware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browsers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allow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facial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fingerprint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recognition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(WebAuthn). 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email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SMS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alert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new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logins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questionable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conduct.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82550">
              <a:lnSpc>
                <a:spcPct val="100000"/>
              </a:lnSpc>
            </a:pP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prevent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automated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attacks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forms,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CAPTCHA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reCAPTCHA.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50118" y="8785471"/>
            <a:ext cx="3159464" cy="1830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118" y="1136261"/>
            <a:ext cx="2560024" cy="18300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118" y="1582031"/>
            <a:ext cx="1039199" cy="18300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87500" y="894715"/>
            <a:ext cx="3942079" cy="108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mbria"/>
                <a:cs typeface="Cambria"/>
              </a:rPr>
              <a:t>Sort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access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according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roles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(guest,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normal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user,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admin).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Safe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methods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changing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forgotten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passwords.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25">
                <a:latin typeface="Cambria"/>
                <a:cs typeface="Cambria"/>
              </a:rPr>
              <a:t>Track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attempts,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changes,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events.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135" y="2041544"/>
            <a:ext cx="1125210" cy="19898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3804" y="2067937"/>
            <a:ext cx="150633" cy="12263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0974" y="2031375"/>
            <a:ext cx="244514" cy="1591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74754" y="2041544"/>
            <a:ext cx="643016" cy="14902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84456" y="2041544"/>
            <a:ext cx="429577" cy="19898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84935" y="2041544"/>
            <a:ext cx="633928" cy="19898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0118" y="2321815"/>
            <a:ext cx="1864699" cy="17411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50118" y="3347331"/>
            <a:ext cx="1178361" cy="14190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393448" y="3347331"/>
            <a:ext cx="937599" cy="14424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55458" y="4185531"/>
            <a:ext cx="1132498" cy="18300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54338" y="4192086"/>
            <a:ext cx="1626315" cy="176454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148512" y="5032630"/>
            <a:ext cx="366395" cy="147320"/>
            <a:chOff x="1148512" y="5032630"/>
            <a:chExt cx="366395" cy="147320"/>
          </a:xfrm>
        </p:grpSpPr>
        <p:pic>
          <p:nvPicPr>
            <p:cNvPr id="17" name="object 1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48512" y="5032630"/>
              <a:ext cx="119420" cy="13039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89272" y="5032630"/>
              <a:ext cx="225274" cy="147110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78473" y="5023732"/>
            <a:ext cx="1596365" cy="14424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49207" y="5469501"/>
            <a:ext cx="828021" cy="183008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587500" y="2488564"/>
            <a:ext cx="5026660" cy="3574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powerful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algorithms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(Bcrypt,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Argon2)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create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salted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hashed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passwords. </a:t>
            </a:r>
            <a:r>
              <a:rPr dirty="0" sz="1100" spc="-55">
                <a:latin typeface="Cambria"/>
                <a:cs typeface="Cambria"/>
              </a:rPr>
              <a:t>Enforce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HTTPS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everywhere</a:t>
            </a:r>
            <a:endParaRPr sz="1100">
              <a:latin typeface="Cambria"/>
              <a:cs typeface="Cambria"/>
            </a:endParaRPr>
          </a:p>
          <a:p>
            <a:pPr marL="12700" marR="2104390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Put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Content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Security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Policy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(CSP)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into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practice. </a:t>
            </a: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secure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HTTP-</a:t>
            </a:r>
            <a:r>
              <a:rPr dirty="0" sz="1100" spc="-50">
                <a:latin typeface="Cambria"/>
                <a:cs typeface="Cambria"/>
              </a:rPr>
              <a:t>only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cookies.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Cambria"/>
                <a:cs typeface="Cambria"/>
              </a:rPr>
              <a:t>Safely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cache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tokens.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65">
                <a:latin typeface="Cambria"/>
                <a:cs typeface="Cambria"/>
              </a:rPr>
              <a:t>Optimize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authentication-</a:t>
            </a:r>
            <a:r>
              <a:rPr dirty="0" sz="1100" spc="-50">
                <a:latin typeface="Cambria"/>
                <a:cs typeface="Cambria"/>
              </a:rPr>
              <a:t>related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database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queries.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stateless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session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management,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75">
                <a:latin typeface="Cambria"/>
                <a:cs typeface="Cambria"/>
              </a:rPr>
              <a:t>JWT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70">
                <a:latin typeface="Cambria"/>
                <a:cs typeface="Cambria"/>
              </a:rPr>
              <a:t>(JSON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Web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Tokens).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344930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Give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concise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error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messages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without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disclosing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private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information.</a:t>
            </a:r>
            <a:r>
              <a:rPr dirty="0" sz="1100" spc="-35">
                <a:latin typeface="Cambria"/>
                <a:cs typeface="Cambria"/>
              </a:rPr>
              <a:t> Permit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"Remember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Me"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feature.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forms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accessible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responsive.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5">
                <a:latin typeface="Cambria"/>
                <a:cs typeface="Cambria"/>
              </a:rPr>
              <a:t>Support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variety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regional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formats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languages.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842770">
              <a:lnSpc>
                <a:spcPct val="117000"/>
              </a:lnSpc>
              <a:spcBef>
                <a:spcPts val="5"/>
              </a:spcBef>
            </a:pPr>
            <a:r>
              <a:rPr dirty="0" sz="1100">
                <a:latin typeface="Cambria"/>
                <a:cs typeface="Cambria"/>
              </a:rPr>
              <a:t>GDPR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CCPA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compliance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privacy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data. </a:t>
            </a:r>
            <a:r>
              <a:rPr dirty="0" sz="1100" spc="-60">
                <a:latin typeface="Cambria"/>
                <a:cs typeface="Cambria"/>
              </a:rPr>
              <a:t>Allow</a:t>
            </a:r>
            <a:r>
              <a:rPr dirty="0" sz="11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download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delete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their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data.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0094" y="6115060"/>
            <a:ext cx="2522924" cy="20915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49207" y="6396601"/>
            <a:ext cx="2489816" cy="183008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47427" y="7234801"/>
            <a:ext cx="738121" cy="183008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50118" y="8073002"/>
            <a:ext cx="2367619" cy="183008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50118" y="8714987"/>
            <a:ext cx="1558629" cy="183008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1587500" y="6572251"/>
            <a:ext cx="4167504" cy="254000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00">
                <a:latin typeface="Cambria"/>
                <a:cs typeface="Cambria"/>
              </a:rPr>
              <a:t>Put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HTTPS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behind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you.</a:t>
            </a:r>
            <a:endParaRPr sz="1100">
              <a:latin typeface="Cambria"/>
              <a:cs typeface="Cambria"/>
            </a:endParaRPr>
          </a:p>
          <a:p>
            <a:pPr marL="82550" marR="5080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sensitive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configuration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(secrets,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API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keys),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environment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variables. </a:t>
            </a:r>
            <a:r>
              <a:rPr dirty="0" sz="1100" spc="-50">
                <a:latin typeface="Cambria"/>
                <a:cs typeface="Cambria"/>
              </a:rPr>
              <a:t>Increase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server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limiting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ports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firewalls.</a:t>
            </a:r>
            <a:endParaRPr sz="1100">
              <a:latin typeface="Cambria"/>
              <a:cs typeface="Cambria"/>
            </a:endParaRPr>
          </a:p>
          <a:p>
            <a:pPr marL="300355">
              <a:lnSpc>
                <a:spcPct val="100000"/>
              </a:lnSpc>
              <a:spcBef>
                <a:spcPts val="515"/>
              </a:spcBef>
            </a:pPr>
            <a:r>
              <a:rPr dirty="0" sz="1100" spc="-50">
                <a:latin typeface="Cambria"/>
                <a:cs typeface="Cambria"/>
              </a:rPr>
              <a:t>: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load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balancers.</a:t>
            </a:r>
            <a:endParaRPr sz="1100">
              <a:latin typeface="Cambria"/>
              <a:cs typeface="Cambria"/>
            </a:endParaRPr>
          </a:p>
          <a:p>
            <a:pPr marL="12700" marR="636905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sessions,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distributed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cache;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stateless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auth,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35">
                <a:latin typeface="Cambria"/>
                <a:cs typeface="Cambria"/>
              </a:rPr>
              <a:t>JWT. </a:t>
            </a:r>
            <a:r>
              <a:rPr dirty="0" sz="1100" spc="-75">
                <a:latin typeface="Cambria"/>
                <a:cs typeface="Cambria"/>
              </a:rPr>
              <a:t>Techniques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scaling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databases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(sharding,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replication).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82550" marR="1142365" indent="-69850">
              <a:lnSpc>
                <a:spcPct val="117000"/>
              </a:lnSpc>
            </a:pPr>
            <a:r>
              <a:rPr dirty="0" sz="1100" spc="-60">
                <a:latin typeface="Cambria"/>
                <a:cs typeface="Cambria"/>
              </a:rPr>
              <a:t>Keep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eye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health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service. </a:t>
            </a:r>
            <a:r>
              <a:rPr dirty="0" sz="1100" spc="-55">
                <a:latin typeface="Cambria"/>
                <a:cs typeface="Cambria"/>
              </a:rPr>
              <a:t>Record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events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pertaining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safely.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35">
                <a:latin typeface="Cambria"/>
                <a:cs typeface="Cambria"/>
              </a:rPr>
              <a:t>Regular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database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data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backups.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118" y="1136261"/>
            <a:ext cx="1387814" cy="18300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118" y="1778246"/>
            <a:ext cx="2716869" cy="18300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5458" y="2224016"/>
            <a:ext cx="3100785" cy="18300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587500" y="894715"/>
            <a:ext cx="5043805" cy="1922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35">
                <a:latin typeface="Cambria"/>
                <a:cs typeface="Cambria"/>
              </a:rPr>
              <a:t>Test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recovery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processes.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82550" marR="2032000" indent="-69850">
              <a:lnSpc>
                <a:spcPct val="117000"/>
              </a:lnSpc>
            </a:pPr>
            <a:r>
              <a:rPr dirty="0" sz="1100" spc="-30">
                <a:latin typeface="Cambria"/>
                <a:cs typeface="Cambria"/>
              </a:rPr>
              <a:t>Tests,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particularly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tests,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should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automated.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Deploy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automatically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have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rollback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capability.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8255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Put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failover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procedures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place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guarantee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high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availability.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241300" marR="5080" indent="-228600">
              <a:lnSpc>
                <a:spcPct val="117000"/>
              </a:lnSpc>
            </a:pPr>
            <a:r>
              <a:rPr dirty="0" sz="1100" spc="-65">
                <a:latin typeface="Cambria"/>
                <a:cs typeface="Cambria"/>
              </a:rPr>
              <a:t>Deploy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third-</a:t>
            </a:r>
            <a:r>
              <a:rPr dirty="0" sz="1100" spc="-25">
                <a:latin typeface="Cambria"/>
                <a:cs typeface="Cambria"/>
              </a:rPr>
              <a:t>party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providers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(Auth0,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Firebase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Auth)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you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want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cut </a:t>
            </a:r>
            <a:r>
              <a:rPr dirty="0" sz="1100" spc="-95">
                <a:latin typeface="Cambria"/>
                <a:cs typeface="Cambria"/>
              </a:rPr>
              <a:t>down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maintenance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costs.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57236" y="3270744"/>
            <a:ext cx="573405" cy="151765"/>
          </a:xfrm>
          <a:custGeom>
            <a:avLst/>
            <a:gdLst/>
            <a:ahLst/>
            <a:cxnLst/>
            <a:rect l="l" t="t" r="r" b="b"/>
            <a:pathLst>
              <a:path w="573405" h="151764">
                <a:moveTo>
                  <a:pt x="122377" y="12890"/>
                </a:moveTo>
                <a:lnTo>
                  <a:pt x="120815" y="8382"/>
                </a:lnTo>
                <a:lnTo>
                  <a:pt x="117665" y="5600"/>
                </a:lnTo>
                <a:lnTo>
                  <a:pt x="114554" y="2819"/>
                </a:lnTo>
                <a:lnTo>
                  <a:pt x="110324" y="1435"/>
                </a:lnTo>
                <a:lnTo>
                  <a:pt x="104965" y="1435"/>
                </a:lnTo>
                <a:lnTo>
                  <a:pt x="97599" y="2197"/>
                </a:lnTo>
                <a:lnTo>
                  <a:pt x="91059" y="4495"/>
                </a:lnTo>
                <a:lnTo>
                  <a:pt x="85369" y="8331"/>
                </a:lnTo>
                <a:lnTo>
                  <a:pt x="80505" y="13690"/>
                </a:lnTo>
                <a:lnTo>
                  <a:pt x="73113" y="21475"/>
                </a:lnTo>
                <a:lnTo>
                  <a:pt x="85204" y="18745"/>
                </a:lnTo>
                <a:lnTo>
                  <a:pt x="86398" y="18745"/>
                </a:lnTo>
                <a:lnTo>
                  <a:pt x="86956" y="22440"/>
                </a:lnTo>
                <a:lnTo>
                  <a:pt x="86956" y="29806"/>
                </a:lnTo>
                <a:lnTo>
                  <a:pt x="75895" y="88900"/>
                </a:lnTo>
                <a:lnTo>
                  <a:pt x="60871" y="125018"/>
                </a:lnTo>
                <a:lnTo>
                  <a:pt x="53276" y="129425"/>
                </a:lnTo>
                <a:lnTo>
                  <a:pt x="42989" y="129425"/>
                </a:lnTo>
                <a:lnTo>
                  <a:pt x="39141" y="127711"/>
                </a:lnTo>
                <a:lnTo>
                  <a:pt x="36563" y="124269"/>
                </a:lnTo>
                <a:lnTo>
                  <a:pt x="34010" y="120789"/>
                </a:lnTo>
                <a:lnTo>
                  <a:pt x="32740" y="114846"/>
                </a:lnTo>
                <a:lnTo>
                  <a:pt x="32740" y="106413"/>
                </a:lnTo>
                <a:lnTo>
                  <a:pt x="39103" y="61645"/>
                </a:lnTo>
                <a:lnTo>
                  <a:pt x="46266" y="31089"/>
                </a:lnTo>
                <a:lnTo>
                  <a:pt x="47371" y="23710"/>
                </a:lnTo>
                <a:lnTo>
                  <a:pt x="47371" y="12560"/>
                </a:lnTo>
                <a:lnTo>
                  <a:pt x="45770" y="8382"/>
                </a:lnTo>
                <a:lnTo>
                  <a:pt x="42557" y="5600"/>
                </a:lnTo>
                <a:lnTo>
                  <a:pt x="39382" y="2819"/>
                </a:lnTo>
                <a:lnTo>
                  <a:pt x="35115" y="1435"/>
                </a:lnTo>
                <a:lnTo>
                  <a:pt x="29756" y="1435"/>
                </a:lnTo>
                <a:lnTo>
                  <a:pt x="0" y="21234"/>
                </a:lnTo>
                <a:lnTo>
                  <a:pt x="6680" y="19570"/>
                </a:lnTo>
                <a:lnTo>
                  <a:pt x="10096" y="18745"/>
                </a:lnTo>
                <a:lnTo>
                  <a:pt x="11252" y="18745"/>
                </a:lnTo>
                <a:lnTo>
                  <a:pt x="11747" y="22339"/>
                </a:lnTo>
                <a:lnTo>
                  <a:pt x="11747" y="29514"/>
                </a:lnTo>
                <a:lnTo>
                  <a:pt x="11214" y="36601"/>
                </a:lnTo>
                <a:lnTo>
                  <a:pt x="9575" y="47129"/>
                </a:lnTo>
                <a:lnTo>
                  <a:pt x="6870" y="61099"/>
                </a:lnTo>
                <a:lnTo>
                  <a:pt x="3073" y="78524"/>
                </a:lnTo>
                <a:lnTo>
                  <a:pt x="1727" y="85432"/>
                </a:lnTo>
                <a:lnTo>
                  <a:pt x="762" y="92227"/>
                </a:lnTo>
                <a:lnTo>
                  <a:pt x="190" y="98882"/>
                </a:lnTo>
                <a:lnTo>
                  <a:pt x="0" y="105422"/>
                </a:lnTo>
                <a:lnTo>
                  <a:pt x="2794" y="125120"/>
                </a:lnTo>
                <a:lnTo>
                  <a:pt x="11188" y="139204"/>
                </a:lnTo>
                <a:lnTo>
                  <a:pt x="25196" y="147650"/>
                </a:lnTo>
                <a:lnTo>
                  <a:pt x="44792" y="150456"/>
                </a:lnTo>
                <a:lnTo>
                  <a:pt x="64681" y="147904"/>
                </a:lnTo>
                <a:lnTo>
                  <a:pt x="102489" y="109435"/>
                </a:lnTo>
                <a:lnTo>
                  <a:pt x="115925" y="60312"/>
                </a:lnTo>
                <a:lnTo>
                  <a:pt x="122377" y="25361"/>
                </a:lnTo>
                <a:lnTo>
                  <a:pt x="122377" y="12890"/>
                </a:lnTo>
                <a:close/>
              </a:path>
              <a:path w="573405" h="151764">
                <a:moveTo>
                  <a:pt x="186194" y="12560"/>
                </a:moveTo>
                <a:lnTo>
                  <a:pt x="184645" y="8382"/>
                </a:lnTo>
                <a:lnTo>
                  <a:pt x="178422" y="2819"/>
                </a:lnTo>
                <a:lnTo>
                  <a:pt x="174193" y="1435"/>
                </a:lnTo>
                <a:lnTo>
                  <a:pt x="168833" y="1435"/>
                </a:lnTo>
                <a:lnTo>
                  <a:pt x="139014" y="21234"/>
                </a:lnTo>
                <a:lnTo>
                  <a:pt x="145707" y="19570"/>
                </a:lnTo>
                <a:lnTo>
                  <a:pt x="149123" y="18745"/>
                </a:lnTo>
                <a:lnTo>
                  <a:pt x="150317" y="18745"/>
                </a:lnTo>
                <a:lnTo>
                  <a:pt x="150825" y="22440"/>
                </a:lnTo>
                <a:lnTo>
                  <a:pt x="150825" y="29806"/>
                </a:lnTo>
                <a:lnTo>
                  <a:pt x="150253" y="37185"/>
                </a:lnTo>
                <a:lnTo>
                  <a:pt x="148513" y="48272"/>
                </a:lnTo>
                <a:lnTo>
                  <a:pt x="145605" y="63080"/>
                </a:lnTo>
                <a:lnTo>
                  <a:pt x="137515" y="100025"/>
                </a:lnTo>
                <a:lnTo>
                  <a:pt x="134632" y="114566"/>
                </a:lnTo>
                <a:lnTo>
                  <a:pt x="132905" y="125234"/>
                </a:lnTo>
                <a:lnTo>
                  <a:pt x="132321" y="132003"/>
                </a:lnTo>
                <a:lnTo>
                  <a:pt x="132321" y="138430"/>
                </a:lnTo>
                <a:lnTo>
                  <a:pt x="133858" y="143103"/>
                </a:lnTo>
                <a:lnTo>
                  <a:pt x="136931" y="146050"/>
                </a:lnTo>
                <a:lnTo>
                  <a:pt x="140042" y="148996"/>
                </a:lnTo>
                <a:lnTo>
                  <a:pt x="145122" y="150456"/>
                </a:lnTo>
                <a:lnTo>
                  <a:pt x="152171" y="150456"/>
                </a:lnTo>
                <a:lnTo>
                  <a:pt x="157645" y="149948"/>
                </a:lnTo>
                <a:lnTo>
                  <a:pt x="163499" y="148386"/>
                </a:lnTo>
                <a:lnTo>
                  <a:pt x="169748" y="145796"/>
                </a:lnTo>
                <a:lnTo>
                  <a:pt x="176377" y="142176"/>
                </a:lnTo>
                <a:lnTo>
                  <a:pt x="171716" y="139344"/>
                </a:lnTo>
                <a:lnTo>
                  <a:pt x="169062" y="137299"/>
                </a:lnTo>
                <a:lnTo>
                  <a:pt x="167741" y="132816"/>
                </a:lnTo>
                <a:lnTo>
                  <a:pt x="167741" y="125907"/>
                </a:lnTo>
                <a:lnTo>
                  <a:pt x="176250" y="68732"/>
                </a:lnTo>
                <a:lnTo>
                  <a:pt x="185089" y="31089"/>
                </a:lnTo>
                <a:lnTo>
                  <a:pt x="186194" y="23710"/>
                </a:lnTo>
                <a:lnTo>
                  <a:pt x="186194" y="12560"/>
                </a:lnTo>
                <a:close/>
              </a:path>
              <a:path w="573405" h="151764">
                <a:moveTo>
                  <a:pt x="303936" y="9372"/>
                </a:moveTo>
                <a:lnTo>
                  <a:pt x="302298" y="6413"/>
                </a:lnTo>
                <a:lnTo>
                  <a:pt x="299021" y="4267"/>
                </a:lnTo>
                <a:lnTo>
                  <a:pt x="295783" y="2108"/>
                </a:lnTo>
                <a:lnTo>
                  <a:pt x="291680" y="1041"/>
                </a:lnTo>
                <a:lnTo>
                  <a:pt x="281787" y="1041"/>
                </a:lnTo>
                <a:lnTo>
                  <a:pt x="252730" y="17754"/>
                </a:lnTo>
                <a:lnTo>
                  <a:pt x="258991" y="17754"/>
                </a:lnTo>
                <a:lnTo>
                  <a:pt x="263588" y="18224"/>
                </a:lnTo>
                <a:lnTo>
                  <a:pt x="265887" y="19329"/>
                </a:lnTo>
                <a:lnTo>
                  <a:pt x="265887" y="22110"/>
                </a:lnTo>
                <a:lnTo>
                  <a:pt x="265176" y="23647"/>
                </a:lnTo>
                <a:lnTo>
                  <a:pt x="263753" y="25692"/>
                </a:lnTo>
                <a:lnTo>
                  <a:pt x="202387" y="117170"/>
                </a:lnTo>
                <a:lnTo>
                  <a:pt x="197319" y="124980"/>
                </a:lnTo>
                <a:lnTo>
                  <a:pt x="194792" y="131826"/>
                </a:lnTo>
                <a:lnTo>
                  <a:pt x="194792" y="137718"/>
                </a:lnTo>
                <a:lnTo>
                  <a:pt x="194792" y="141516"/>
                </a:lnTo>
                <a:lnTo>
                  <a:pt x="196532" y="144526"/>
                </a:lnTo>
                <a:lnTo>
                  <a:pt x="199999" y="146735"/>
                </a:lnTo>
                <a:lnTo>
                  <a:pt x="203504" y="148920"/>
                </a:lnTo>
                <a:lnTo>
                  <a:pt x="208114" y="150012"/>
                </a:lnTo>
                <a:lnTo>
                  <a:pt x="219595" y="150012"/>
                </a:lnTo>
                <a:lnTo>
                  <a:pt x="245541" y="133299"/>
                </a:lnTo>
                <a:lnTo>
                  <a:pt x="239534" y="133299"/>
                </a:lnTo>
                <a:lnTo>
                  <a:pt x="234810" y="132829"/>
                </a:lnTo>
                <a:lnTo>
                  <a:pt x="232448" y="131724"/>
                </a:lnTo>
                <a:lnTo>
                  <a:pt x="232448" y="128943"/>
                </a:lnTo>
                <a:lnTo>
                  <a:pt x="233159" y="127406"/>
                </a:lnTo>
                <a:lnTo>
                  <a:pt x="234581" y="125361"/>
                </a:lnTo>
                <a:lnTo>
                  <a:pt x="296138" y="33477"/>
                </a:lnTo>
                <a:lnTo>
                  <a:pt x="301332" y="25412"/>
                </a:lnTo>
                <a:lnTo>
                  <a:pt x="303936" y="18630"/>
                </a:lnTo>
                <a:lnTo>
                  <a:pt x="303936" y="9372"/>
                </a:lnTo>
                <a:close/>
              </a:path>
              <a:path w="573405" h="151764">
                <a:moveTo>
                  <a:pt x="443687" y="12890"/>
                </a:moveTo>
                <a:lnTo>
                  <a:pt x="442125" y="8382"/>
                </a:lnTo>
                <a:lnTo>
                  <a:pt x="438975" y="5600"/>
                </a:lnTo>
                <a:lnTo>
                  <a:pt x="435864" y="2819"/>
                </a:lnTo>
                <a:lnTo>
                  <a:pt x="431634" y="1435"/>
                </a:lnTo>
                <a:lnTo>
                  <a:pt x="426275" y="1435"/>
                </a:lnTo>
                <a:lnTo>
                  <a:pt x="418909" y="2197"/>
                </a:lnTo>
                <a:lnTo>
                  <a:pt x="412369" y="4495"/>
                </a:lnTo>
                <a:lnTo>
                  <a:pt x="406679" y="8331"/>
                </a:lnTo>
                <a:lnTo>
                  <a:pt x="401815" y="13690"/>
                </a:lnTo>
                <a:lnTo>
                  <a:pt x="394423" y="21475"/>
                </a:lnTo>
                <a:lnTo>
                  <a:pt x="406514" y="18745"/>
                </a:lnTo>
                <a:lnTo>
                  <a:pt x="407708" y="18745"/>
                </a:lnTo>
                <a:lnTo>
                  <a:pt x="408266" y="22440"/>
                </a:lnTo>
                <a:lnTo>
                  <a:pt x="408266" y="29806"/>
                </a:lnTo>
                <a:lnTo>
                  <a:pt x="397205" y="88900"/>
                </a:lnTo>
                <a:lnTo>
                  <a:pt x="382181" y="125018"/>
                </a:lnTo>
                <a:lnTo>
                  <a:pt x="374586" y="129425"/>
                </a:lnTo>
                <a:lnTo>
                  <a:pt x="364299" y="129425"/>
                </a:lnTo>
                <a:lnTo>
                  <a:pt x="360451" y="127711"/>
                </a:lnTo>
                <a:lnTo>
                  <a:pt x="357873" y="124269"/>
                </a:lnTo>
                <a:lnTo>
                  <a:pt x="355320" y="120789"/>
                </a:lnTo>
                <a:lnTo>
                  <a:pt x="354050" y="114846"/>
                </a:lnTo>
                <a:lnTo>
                  <a:pt x="354050" y="106413"/>
                </a:lnTo>
                <a:lnTo>
                  <a:pt x="360413" y="61645"/>
                </a:lnTo>
                <a:lnTo>
                  <a:pt x="367576" y="31089"/>
                </a:lnTo>
                <a:lnTo>
                  <a:pt x="368681" y="23710"/>
                </a:lnTo>
                <a:lnTo>
                  <a:pt x="368681" y="12560"/>
                </a:lnTo>
                <a:lnTo>
                  <a:pt x="367080" y="8382"/>
                </a:lnTo>
                <a:lnTo>
                  <a:pt x="363867" y="5600"/>
                </a:lnTo>
                <a:lnTo>
                  <a:pt x="360692" y="2819"/>
                </a:lnTo>
                <a:lnTo>
                  <a:pt x="356425" y="1435"/>
                </a:lnTo>
                <a:lnTo>
                  <a:pt x="351066" y="1435"/>
                </a:lnTo>
                <a:lnTo>
                  <a:pt x="321310" y="21234"/>
                </a:lnTo>
                <a:lnTo>
                  <a:pt x="327990" y="19570"/>
                </a:lnTo>
                <a:lnTo>
                  <a:pt x="331406" y="18745"/>
                </a:lnTo>
                <a:lnTo>
                  <a:pt x="332562" y="18745"/>
                </a:lnTo>
                <a:lnTo>
                  <a:pt x="333057" y="22339"/>
                </a:lnTo>
                <a:lnTo>
                  <a:pt x="333057" y="29514"/>
                </a:lnTo>
                <a:lnTo>
                  <a:pt x="332524" y="36601"/>
                </a:lnTo>
                <a:lnTo>
                  <a:pt x="330885" y="47129"/>
                </a:lnTo>
                <a:lnTo>
                  <a:pt x="328180" y="61099"/>
                </a:lnTo>
                <a:lnTo>
                  <a:pt x="324383" y="78524"/>
                </a:lnTo>
                <a:lnTo>
                  <a:pt x="323037" y="85432"/>
                </a:lnTo>
                <a:lnTo>
                  <a:pt x="322072" y="92227"/>
                </a:lnTo>
                <a:lnTo>
                  <a:pt x="321500" y="98882"/>
                </a:lnTo>
                <a:lnTo>
                  <a:pt x="321310" y="105422"/>
                </a:lnTo>
                <a:lnTo>
                  <a:pt x="324104" y="125120"/>
                </a:lnTo>
                <a:lnTo>
                  <a:pt x="332498" y="139204"/>
                </a:lnTo>
                <a:lnTo>
                  <a:pt x="346506" y="147650"/>
                </a:lnTo>
                <a:lnTo>
                  <a:pt x="366102" y="150456"/>
                </a:lnTo>
                <a:lnTo>
                  <a:pt x="385991" y="147904"/>
                </a:lnTo>
                <a:lnTo>
                  <a:pt x="423799" y="109435"/>
                </a:lnTo>
                <a:lnTo>
                  <a:pt x="437235" y="60312"/>
                </a:lnTo>
                <a:lnTo>
                  <a:pt x="443687" y="25361"/>
                </a:lnTo>
                <a:lnTo>
                  <a:pt x="443687" y="12890"/>
                </a:lnTo>
                <a:close/>
              </a:path>
              <a:path w="573405" h="151764">
                <a:moveTo>
                  <a:pt x="572947" y="4318"/>
                </a:moveTo>
                <a:lnTo>
                  <a:pt x="567410" y="0"/>
                </a:lnTo>
                <a:lnTo>
                  <a:pt x="552170" y="0"/>
                </a:lnTo>
                <a:lnTo>
                  <a:pt x="546544" y="889"/>
                </a:lnTo>
                <a:lnTo>
                  <a:pt x="539470" y="2679"/>
                </a:lnTo>
                <a:lnTo>
                  <a:pt x="541820" y="6946"/>
                </a:lnTo>
                <a:lnTo>
                  <a:pt x="542988" y="10096"/>
                </a:lnTo>
                <a:lnTo>
                  <a:pt x="542988" y="16687"/>
                </a:lnTo>
                <a:lnTo>
                  <a:pt x="540689" y="22415"/>
                </a:lnTo>
                <a:lnTo>
                  <a:pt x="516940" y="53924"/>
                </a:lnTo>
                <a:lnTo>
                  <a:pt x="513448" y="45389"/>
                </a:lnTo>
                <a:lnTo>
                  <a:pt x="509943" y="36207"/>
                </a:lnTo>
                <a:lnTo>
                  <a:pt x="506425" y="26390"/>
                </a:lnTo>
                <a:lnTo>
                  <a:pt x="502907" y="15925"/>
                </a:lnTo>
                <a:lnTo>
                  <a:pt x="501421" y="11125"/>
                </a:lnTo>
                <a:lnTo>
                  <a:pt x="499414" y="7518"/>
                </a:lnTo>
                <a:lnTo>
                  <a:pt x="496900" y="5105"/>
                </a:lnTo>
                <a:lnTo>
                  <a:pt x="494385" y="2654"/>
                </a:lnTo>
                <a:lnTo>
                  <a:pt x="490689" y="1435"/>
                </a:lnTo>
                <a:lnTo>
                  <a:pt x="480923" y="1435"/>
                </a:lnTo>
                <a:lnTo>
                  <a:pt x="476516" y="2984"/>
                </a:lnTo>
                <a:lnTo>
                  <a:pt x="462622" y="24409"/>
                </a:lnTo>
                <a:lnTo>
                  <a:pt x="467118" y="23215"/>
                </a:lnTo>
                <a:lnTo>
                  <a:pt x="469531" y="22618"/>
                </a:lnTo>
                <a:lnTo>
                  <a:pt x="470230" y="22618"/>
                </a:lnTo>
                <a:lnTo>
                  <a:pt x="470903" y="23329"/>
                </a:lnTo>
                <a:lnTo>
                  <a:pt x="472897" y="26174"/>
                </a:lnTo>
                <a:lnTo>
                  <a:pt x="474929" y="31445"/>
                </a:lnTo>
                <a:lnTo>
                  <a:pt x="478002" y="40576"/>
                </a:lnTo>
                <a:lnTo>
                  <a:pt x="480618" y="47904"/>
                </a:lnTo>
                <a:lnTo>
                  <a:pt x="483793" y="56261"/>
                </a:lnTo>
                <a:lnTo>
                  <a:pt x="487540" y="65646"/>
                </a:lnTo>
                <a:lnTo>
                  <a:pt x="491845" y="76047"/>
                </a:lnTo>
                <a:lnTo>
                  <a:pt x="482523" y="85521"/>
                </a:lnTo>
                <a:lnTo>
                  <a:pt x="456184" y="113360"/>
                </a:lnTo>
                <a:lnTo>
                  <a:pt x="443865" y="132829"/>
                </a:lnTo>
                <a:lnTo>
                  <a:pt x="443865" y="141262"/>
                </a:lnTo>
                <a:lnTo>
                  <a:pt x="445528" y="144754"/>
                </a:lnTo>
                <a:lnTo>
                  <a:pt x="448830" y="147535"/>
                </a:lnTo>
                <a:lnTo>
                  <a:pt x="452170" y="150279"/>
                </a:lnTo>
                <a:lnTo>
                  <a:pt x="456234" y="151650"/>
                </a:lnTo>
                <a:lnTo>
                  <a:pt x="465861" y="151650"/>
                </a:lnTo>
                <a:lnTo>
                  <a:pt x="472478" y="150774"/>
                </a:lnTo>
                <a:lnTo>
                  <a:pt x="480872" y="149021"/>
                </a:lnTo>
                <a:lnTo>
                  <a:pt x="476758" y="144907"/>
                </a:lnTo>
                <a:lnTo>
                  <a:pt x="475729" y="143421"/>
                </a:lnTo>
                <a:lnTo>
                  <a:pt x="475221" y="141478"/>
                </a:lnTo>
                <a:lnTo>
                  <a:pt x="475221" y="136715"/>
                </a:lnTo>
                <a:lnTo>
                  <a:pt x="502361" y="99110"/>
                </a:lnTo>
                <a:lnTo>
                  <a:pt x="506247" y="107086"/>
                </a:lnTo>
                <a:lnTo>
                  <a:pt x="510654" y="115608"/>
                </a:lnTo>
                <a:lnTo>
                  <a:pt x="538124" y="149453"/>
                </a:lnTo>
                <a:lnTo>
                  <a:pt x="544969" y="150456"/>
                </a:lnTo>
                <a:lnTo>
                  <a:pt x="551459" y="150456"/>
                </a:lnTo>
                <a:lnTo>
                  <a:pt x="556412" y="148424"/>
                </a:lnTo>
                <a:lnTo>
                  <a:pt x="559854" y="144360"/>
                </a:lnTo>
                <a:lnTo>
                  <a:pt x="563295" y="140258"/>
                </a:lnTo>
                <a:lnTo>
                  <a:pt x="565010" y="135001"/>
                </a:lnTo>
                <a:lnTo>
                  <a:pt x="565010" y="128587"/>
                </a:lnTo>
                <a:lnTo>
                  <a:pt x="565010" y="126606"/>
                </a:lnTo>
                <a:lnTo>
                  <a:pt x="564565" y="123507"/>
                </a:lnTo>
                <a:lnTo>
                  <a:pt x="563676" y="119303"/>
                </a:lnTo>
                <a:lnTo>
                  <a:pt x="559663" y="121843"/>
                </a:lnTo>
                <a:lnTo>
                  <a:pt x="557669" y="123126"/>
                </a:lnTo>
                <a:lnTo>
                  <a:pt x="555790" y="123774"/>
                </a:lnTo>
                <a:lnTo>
                  <a:pt x="552246" y="123774"/>
                </a:lnTo>
                <a:lnTo>
                  <a:pt x="550583" y="122364"/>
                </a:lnTo>
                <a:lnTo>
                  <a:pt x="548995" y="119557"/>
                </a:lnTo>
                <a:lnTo>
                  <a:pt x="542975" y="109042"/>
                </a:lnTo>
                <a:lnTo>
                  <a:pt x="537260" y="98310"/>
                </a:lnTo>
                <a:lnTo>
                  <a:pt x="531863" y="87337"/>
                </a:lnTo>
                <a:lnTo>
                  <a:pt x="526770" y="76149"/>
                </a:lnTo>
                <a:lnTo>
                  <a:pt x="538353" y="63588"/>
                </a:lnTo>
                <a:lnTo>
                  <a:pt x="548132" y="52654"/>
                </a:lnTo>
                <a:lnTo>
                  <a:pt x="556133" y="43345"/>
                </a:lnTo>
                <a:lnTo>
                  <a:pt x="562343" y="35661"/>
                </a:lnTo>
                <a:lnTo>
                  <a:pt x="569417" y="26466"/>
                </a:lnTo>
                <a:lnTo>
                  <a:pt x="572947" y="18897"/>
                </a:lnTo>
                <a:lnTo>
                  <a:pt x="572947" y="4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6931" y="3272174"/>
            <a:ext cx="1167427" cy="19898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9712" y="3543546"/>
            <a:ext cx="1919241" cy="18300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7460" y="4390646"/>
            <a:ext cx="131725" cy="13287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5292" y="4381747"/>
            <a:ext cx="505202" cy="18300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47068" y="4381747"/>
            <a:ext cx="2492714" cy="18300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6559" y="5228846"/>
            <a:ext cx="134025" cy="130007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47603" y="5219947"/>
            <a:ext cx="2777194" cy="18300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9033" y="6459476"/>
            <a:ext cx="131551" cy="130007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47603" y="6450577"/>
            <a:ext cx="1887955" cy="183008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8339" y="6902814"/>
            <a:ext cx="132246" cy="13243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46692" y="6896346"/>
            <a:ext cx="2548999" cy="141901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49771" y="7547230"/>
            <a:ext cx="130813" cy="130007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47603" y="7538332"/>
            <a:ext cx="2788086" cy="183008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50118" y="8180317"/>
            <a:ext cx="1909998" cy="183008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587500" y="3719194"/>
            <a:ext cx="5051425" cy="525081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325"/>
              </a:spcBef>
            </a:pPr>
            <a:r>
              <a:rPr dirty="0" sz="1100" spc="-55">
                <a:latin typeface="Cambria"/>
                <a:cs typeface="Cambria"/>
              </a:rPr>
              <a:t>clean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labels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simple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form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structure.</a:t>
            </a:r>
            <a:endParaRPr sz="1100">
              <a:latin typeface="Cambria"/>
              <a:cs typeface="Cambria"/>
            </a:endParaRPr>
          </a:p>
          <a:p>
            <a:pPr marL="5715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good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whitespace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prevent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clutter.</a:t>
            </a:r>
            <a:endParaRPr sz="1100">
              <a:latin typeface="Cambria"/>
              <a:cs typeface="Cambria"/>
            </a:endParaRPr>
          </a:p>
          <a:p>
            <a:pPr marL="57150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high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contrast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between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background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text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easier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read.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412750">
              <a:lnSpc>
                <a:spcPct val="100000"/>
              </a:lnSpc>
            </a:pPr>
            <a:r>
              <a:rPr dirty="0" sz="1100" spc="-55">
                <a:latin typeface="Cambria"/>
                <a:cs typeface="Cambria"/>
              </a:rPr>
              <a:t>Outside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input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fields,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informative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labels.</a:t>
            </a:r>
            <a:endParaRPr sz="1100">
              <a:latin typeface="Cambria"/>
              <a:cs typeface="Cambria"/>
            </a:endParaRPr>
          </a:p>
          <a:p>
            <a:pPr marL="412750">
              <a:lnSpc>
                <a:spcPct val="100000"/>
              </a:lnSpc>
              <a:spcBef>
                <a:spcPts val="225"/>
              </a:spcBef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hints,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placeholders,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"Enter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email."</a:t>
            </a:r>
            <a:endParaRPr sz="1100">
              <a:latin typeface="Cambria"/>
              <a:cs typeface="Cambria"/>
            </a:endParaRPr>
          </a:p>
          <a:p>
            <a:pPr marL="41275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Labels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remain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visible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typing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known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floating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labels.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241300" marR="328295" indent="50800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When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input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mistakes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occur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(such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improper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email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format),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provide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prompt </a:t>
            </a:r>
            <a:r>
              <a:rPr dirty="0" sz="1100" spc="-10">
                <a:latin typeface="Cambria"/>
                <a:cs typeface="Cambria"/>
              </a:rPr>
              <a:t>feedback.</a:t>
            </a:r>
            <a:endParaRPr sz="1100">
              <a:latin typeface="Cambria"/>
              <a:cs typeface="Cambria"/>
            </a:endParaRPr>
          </a:p>
          <a:p>
            <a:pPr marL="222250">
              <a:lnSpc>
                <a:spcPct val="100000"/>
              </a:lnSpc>
              <a:spcBef>
                <a:spcPts val="225"/>
              </a:spcBef>
            </a:pPr>
            <a:r>
              <a:rPr dirty="0" sz="1100" spc="-10">
                <a:latin typeface="Cambria"/>
                <a:cs typeface="Cambria"/>
              </a:rPr>
              <a:t>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colors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icons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draw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attention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fields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contain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errors.</a:t>
            </a:r>
            <a:endParaRPr sz="1100">
              <a:latin typeface="Cambria"/>
              <a:cs typeface="Cambria"/>
            </a:endParaRPr>
          </a:p>
          <a:p>
            <a:pPr marL="241300" marR="108585" indent="-19050">
              <a:lnSpc>
                <a:spcPct val="117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error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messages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actionable,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"Password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must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least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8</a:t>
            </a:r>
            <a:r>
              <a:rPr dirty="0" sz="1100" spc="-10">
                <a:latin typeface="Cambria"/>
                <a:cs typeface="Cambria"/>
              </a:rPr>
              <a:t> characters."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prevent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entering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errors,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add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icon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reveal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conceal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password.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241300" marR="5080" indent="-228600">
              <a:lnSpc>
                <a:spcPct val="117000"/>
              </a:lnSpc>
            </a:pPr>
            <a:r>
              <a:rPr dirty="0" sz="1100" spc="-25">
                <a:latin typeface="Cambria"/>
                <a:cs typeface="Cambria"/>
              </a:rPr>
              <a:t>Until</a:t>
            </a:r>
            <a:r>
              <a:rPr dirty="0" sz="1100" spc="-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the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user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begins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engaging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with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the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form,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hide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the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"Forgot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Password?"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"Remember </a:t>
            </a:r>
            <a:r>
              <a:rPr dirty="0" sz="1100">
                <a:latin typeface="Cambria"/>
                <a:cs typeface="Cambria"/>
              </a:rPr>
              <a:t>Me"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checkboxes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social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choices,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display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them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discreetly.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2004695">
              <a:lnSpc>
                <a:spcPct val="117000"/>
              </a:lnSpc>
              <a:spcBef>
                <a:spcPts val="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form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works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properly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screen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sizes. </a:t>
            </a: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huge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touch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targets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inputs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buttons.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2463800">
              <a:lnSpc>
                <a:spcPct val="117000"/>
              </a:lnSpc>
            </a:pPr>
            <a:r>
              <a:rPr dirty="0" sz="1100" spc="-55">
                <a:latin typeface="Cambria"/>
                <a:cs typeface="Cambria"/>
              </a:rPr>
              <a:t>Button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field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navigation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keyboard. </a:t>
            </a:r>
            <a:r>
              <a:rPr dirty="0" sz="1100" spc="-50">
                <a:latin typeface="Cambria"/>
                <a:cs typeface="Cambria"/>
              </a:rPr>
              <a:t>labels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compatible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screen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readers. </a:t>
            </a:r>
            <a:r>
              <a:rPr dirty="0" sz="1100" spc="-45">
                <a:latin typeface="Cambria"/>
                <a:cs typeface="Cambria"/>
              </a:rPr>
              <a:t>When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required,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ARIA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properties.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127" y="940046"/>
            <a:ext cx="1918048" cy="18300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991" y="1582031"/>
            <a:ext cx="2604158" cy="13929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6771" y="1588543"/>
            <a:ext cx="464037" cy="13278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9712" y="2420232"/>
            <a:ext cx="2480074" cy="183008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159712" y="3071115"/>
            <a:ext cx="222250" cy="130175"/>
            <a:chOff x="1159712" y="3071115"/>
            <a:chExt cx="222250" cy="130175"/>
          </a:xfrm>
        </p:grpSpPr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712" y="3071115"/>
              <a:ext cx="65676" cy="12966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1312" y="3071115"/>
              <a:ext cx="65676" cy="12966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352336" y="3171909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18578" y="29213"/>
                  </a:moveTo>
                  <a:lnTo>
                    <a:pt x="10591" y="29213"/>
                  </a:lnTo>
                  <a:lnTo>
                    <a:pt x="7162" y="27781"/>
                  </a:lnTo>
                  <a:lnTo>
                    <a:pt x="4297" y="24916"/>
                  </a:lnTo>
                  <a:lnTo>
                    <a:pt x="1432" y="22022"/>
                  </a:lnTo>
                  <a:lnTo>
                    <a:pt x="0" y="18593"/>
                  </a:lnTo>
                  <a:lnTo>
                    <a:pt x="0" y="10635"/>
                  </a:lnTo>
                  <a:lnTo>
                    <a:pt x="1432" y="7205"/>
                  </a:lnTo>
                  <a:lnTo>
                    <a:pt x="4297" y="4340"/>
                  </a:lnTo>
                  <a:lnTo>
                    <a:pt x="7162" y="1446"/>
                  </a:lnTo>
                  <a:lnTo>
                    <a:pt x="10591" y="0"/>
                  </a:lnTo>
                  <a:lnTo>
                    <a:pt x="18578" y="0"/>
                  </a:lnTo>
                  <a:lnTo>
                    <a:pt x="22007" y="1446"/>
                  </a:lnTo>
                  <a:lnTo>
                    <a:pt x="24872" y="4340"/>
                  </a:lnTo>
                  <a:lnTo>
                    <a:pt x="27766" y="7205"/>
                  </a:lnTo>
                  <a:lnTo>
                    <a:pt x="29213" y="10635"/>
                  </a:lnTo>
                  <a:lnTo>
                    <a:pt x="29213" y="18593"/>
                  </a:lnTo>
                  <a:lnTo>
                    <a:pt x="27766" y="22022"/>
                  </a:lnTo>
                  <a:lnTo>
                    <a:pt x="22007" y="27781"/>
                  </a:lnTo>
                  <a:lnTo>
                    <a:pt x="18578" y="2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49203" y="3062217"/>
            <a:ext cx="2572938" cy="139296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1159712" y="3713100"/>
            <a:ext cx="222250" cy="133350"/>
            <a:chOff x="1159712" y="3713100"/>
            <a:chExt cx="222250" cy="133350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712" y="3713100"/>
              <a:ext cx="65676" cy="12966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0460" y="3713100"/>
              <a:ext cx="131090" cy="132872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49203" y="3710756"/>
            <a:ext cx="1226017" cy="17645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59712" y="4542401"/>
            <a:ext cx="1287513" cy="13929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12828" y="4542401"/>
            <a:ext cx="696755" cy="139296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274193" y="4542401"/>
            <a:ext cx="1158707" cy="183008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1159712" y="5193285"/>
            <a:ext cx="222250" cy="130175"/>
            <a:chOff x="1159712" y="5193285"/>
            <a:chExt cx="222250" cy="130175"/>
          </a:xfrm>
        </p:grpSpPr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59712" y="5193285"/>
              <a:ext cx="65676" cy="12966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50633" y="5193285"/>
              <a:ext cx="130916" cy="130007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49203" y="5184387"/>
            <a:ext cx="2484789" cy="18300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587500" y="1115694"/>
            <a:ext cx="4561205" cy="4662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08075">
              <a:lnSpc>
                <a:spcPct val="117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buttons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branded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(Apple,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Facebook,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Google).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Place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them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prominently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without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taking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over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interface.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2105660">
              <a:lnSpc>
                <a:spcPct val="117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color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button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stand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out. </a:t>
            </a: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simple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tap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click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button.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unambiguous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wording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such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"Log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In"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"Sign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In."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33985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Display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loading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indicator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spinner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while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request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being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processed.</a:t>
            </a:r>
            <a:r>
              <a:rPr dirty="0" sz="1100" spc="-30">
                <a:latin typeface="Cambria"/>
                <a:cs typeface="Cambria"/>
              </a:rPr>
              <a:t> Turn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off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button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stop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people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clicking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more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than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once.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696720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simplicity,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provide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"Remember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Me"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checkbox.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Support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auto-</a:t>
            </a:r>
            <a:r>
              <a:rPr dirty="0" sz="1100" spc="-20">
                <a:latin typeface="Cambria"/>
                <a:cs typeface="Cambria"/>
              </a:rPr>
              <a:t>fill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feature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browser.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45">
                <a:latin typeface="Cambria"/>
                <a:cs typeface="Cambria"/>
              </a:rPr>
              <a:t>Display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mistakes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close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impacted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input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top.</a:t>
            </a:r>
            <a:endParaRPr sz="1100">
              <a:latin typeface="Cambria"/>
              <a:cs typeface="Cambria"/>
            </a:endParaRPr>
          </a:p>
          <a:p>
            <a:pPr marL="241300" marR="5080" indent="-228600">
              <a:lnSpc>
                <a:spcPct val="117000"/>
              </a:lnSpc>
            </a:pPr>
            <a:r>
              <a:rPr dirty="0" sz="1100" spc="-60">
                <a:latin typeface="Cambria"/>
                <a:cs typeface="Cambria"/>
              </a:rPr>
              <a:t>Instead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ambiguous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notifications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like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"Login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failed,"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"Incorrect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email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or </a:t>
            </a:r>
            <a:r>
              <a:rPr dirty="0" sz="1100" spc="-10">
                <a:latin typeface="Cambria"/>
                <a:cs typeface="Cambria"/>
              </a:rPr>
              <a:t>password."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30">
                <a:latin typeface="Cambria"/>
                <a:cs typeface="Cambria"/>
              </a:rPr>
              <a:t>Create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simple,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step-</a:t>
            </a:r>
            <a:r>
              <a:rPr dirty="0" sz="1100" spc="-10">
                <a:latin typeface="Cambria"/>
                <a:cs typeface="Cambria"/>
              </a:rPr>
              <a:t>by-</a:t>
            </a:r>
            <a:r>
              <a:rPr dirty="0" sz="1100" spc="-50">
                <a:latin typeface="Cambria"/>
                <a:cs typeface="Cambria"/>
              </a:rPr>
              <a:t>step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MFA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flow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clear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instructions.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55">
                <a:latin typeface="Cambria"/>
                <a:cs typeface="Cambria"/>
              </a:rPr>
              <a:t>Provide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backup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codes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alternative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verification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case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loses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access.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simple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new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"Create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Account"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"Sign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Up."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subtly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noticeable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links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don't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overshadow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form.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2099" y="5829944"/>
            <a:ext cx="1642328" cy="20915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79606" y="5837386"/>
            <a:ext cx="694680" cy="151755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17277" y="6111487"/>
            <a:ext cx="2017299" cy="183008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50118" y="6958585"/>
            <a:ext cx="959507" cy="174110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50118" y="7787886"/>
            <a:ext cx="1763636" cy="183008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1587500" y="6287134"/>
            <a:ext cx="5006340" cy="209423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00" spc="-10">
                <a:latin typeface="Cambria"/>
                <a:cs typeface="Cambria"/>
              </a:rPr>
              <a:t>Use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secure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hashing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techniques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(like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Argon2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Bcrypt)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store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passwords.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7000"/>
              </a:lnSpc>
            </a:pPr>
            <a:r>
              <a:rPr dirty="0" sz="1100" spc="-80">
                <a:latin typeface="Cambria"/>
                <a:cs typeface="Cambria"/>
              </a:rPr>
              <a:t>Implement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stringent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regulations,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minimum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length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special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characters. </a:t>
            </a:r>
            <a:r>
              <a:rPr dirty="0" sz="1100" spc="-55">
                <a:latin typeface="Cambria"/>
                <a:cs typeface="Cambria"/>
              </a:rPr>
              <a:t>Passwords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should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never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sent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logged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plain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text.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979930">
              <a:lnSpc>
                <a:spcPct val="117000"/>
              </a:lnSpc>
            </a:pPr>
            <a:r>
              <a:rPr dirty="0" sz="1100" spc="-25">
                <a:latin typeface="Cambria"/>
                <a:cs typeface="Cambria"/>
              </a:rPr>
              <a:t>Stop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single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IP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making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too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many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attempts.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Avoid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brute-</a:t>
            </a:r>
            <a:r>
              <a:rPr dirty="0" sz="1100" spc="-45">
                <a:latin typeface="Cambria"/>
                <a:cs typeface="Cambria"/>
              </a:rPr>
              <a:t>force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assaults.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several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failures,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implement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interim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account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lockouts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exponential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backoff.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655445">
              <a:lnSpc>
                <a:spcPct val="117000"/>
              </a:lnSpc>
            </a:pP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several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unsuccessful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attempts,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trigger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CAPTCHA. </a:t>
            </a:r>
            <a:r>
              <a:rPr dirty="0" sz="1100" spc="-25">
                <a:latin typeface="Cambria"/>
                <a:cs typeface="Cambria"/>
              </a:rPr>
              <a:t>Stop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bot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assaults.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49697" y="8443614"/>
            <a:ext cx="149998" cy="151854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66639" y="8443614"/>
            <a:ext cx="450601" cy="149026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883925" y="8433444"/>
            <a:ext cx="2246312" cy="159196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4203814" y="8440890"/>
            <a:ext cx="568960" cy="151765"/>
          </a:xfrm>
          <a:custGeom>
            <a:avLst/>
            <a:gdLst/>
            <a:ahLst/>
            <a:cxnLst/>
            <a:rect l="l" t="t" r="r" b="b"/>
            <a:pathLst>
              <a:path w="568960" h="151765">
                <a:moveTo>
                  <a:pt x="81953" y="5359"/>
                </a:moveTo>
                <a:lnTo>
                  <a:pt x="77749" y="2336"/>
                </a:lnTo>
                <a:lnTo>
                  <a:pt x="60985" y="2336"/>
                </a:lnTo>
                <a:lnTo>
                  <a:pt x="32537" y="20243"/>
                </a:lnTo>
                <a:lnTo>
                  <a:pt x="38938" y="20243"/>
                </a:lnTo>
                <a:lnTo>
                  <a:pt x="41922" y="19608"/>
                </a:lnTo>
                <a:lnTo>
                  <a:pt x="42443" y="19481"/>
                </a:lnTo>
                <a:lnTo>
                  <a:pt x="42367" y="20116"/>
                </a:lnTo>
                <a:lnTo>
                  <a:pt x="42252" y="20243"/>
                </a:lnTo>
                <a:lnTo>
                  <a:pt x="40881" y="21818"/>
                </a:lnTo>
                <a:lnTo>
                  <a:pt x="37998" y="24752"/>
                </a:lnTo>
                <a:lnTo>
                  <a:pt x="9080" y="62903"/>
                </a:lnTo>
                <a:lnTo>
                  <a:pt x="0" y="97091"/>
                </a:lnTo>
                <a:lnTo>
                  <a:pt x="419" y="104927"/>
                </a:lnTo>
                <a:lnTo>
                  <a:pt x="16611" y="139700"/>
                </a:lnTo>
                <a:lnTo>
                  <a:pt x="36995" y="151307"/>
                </a:lnTo>
                <a:lnTo>
                  <a:pt x="44399" y="151307"/>
                </a:lnTo>
                <a:lnTo>
                  <a:pt x="53238" y="150279"/>
                </a:lnTo>
                <a:lnTo>
                  <a:pt x="60032" y="147205"/>
                </a:lnTo>
                <a:lnTo>
                  <a:pt x="64820" y="142074"/>
                </a:lnTo>
                <a:lnTo>
                  <a:pt x="67564" y="134886"/>
                </a:lnTo>
                <a:lnTo>
                  <a:pt x="69646" y="130721"/>
                </a:lnTo>
                <a:lnTo>
                  <a:pt x="69761" y="130492"/>
                </a:lnTo>
                <a:lnTo>
                  <a:pt x="70002" y="130035"/>
                </a:lnTo>
                <a:lnTo>
                  <a:pt x="65163" y="130492"/>
                </a:lnTo>
                <a:lnTo>
                  <a:pt x="62395" y="130721"/>
                </a:lnTo>
                <a:lnTo>
                  <a:pt x="57061" y="130721"/>
                </a:lnTo>
                <a:lnTo>
                  <a:pt x="31356" y="104927"/>
                </a:lnTo>
                <a:lnTo>
                  <a:pt x="31356" y="95605"/>
                </a:lnTo>
                <a:lnTo>
                  <a:pt x="46710" y="59245"/>
                </a:lnTo>
                <a:lnTo>
                  <a:pt x="68707" y="33489"/>
                </a:lnTo>
                <a:lnTo>
                  <a:pt x="73431" y="28295"/>
                </a:lnTo>
                <a:lnTo>
                  <a:pt x="79057" y="21412"/>
                </a:lnTo>
                <a:lnTo>
                  <a:pt x="80175" y="19304"/>
                </a:lnTo>
                <a:lnTo>
                  <a:pt x="80962" y="17818"/>
                </a:lnTo>
                <a:lnTo>
                  <a:pt x="81953" y="14046"/>
                </a:lnTo>
                <a:lnTo>
                  <a:pt x="81953" y="5359"/>
                </a:lnTo>
                <a:close/>
              </a:path>
              <a:path w="568960" h="151765">
                <a:moveTo>
                  <a:pt x="252095" y="8674"/>
                </a:moveTo>
                <a:lnTo>
                  <a:pt x="246151" y="2730"/>
                </a:lnTo>
                <a:lnTo>
                  <a:pt x="234289" y="2730"/>
                </a:lnTo>
                <a:lnTo>
                  <a:pt x="172872" y="83350"/>
                </a:lnTo>
                <a:lnTo>
                  <a:pt x="148463" y="16078"/>
                </a:lnTo>
                <a:lnTo>
                  <a:pt x="145288" y="7175"/>
                </a:lnTo>
                <a:lnTo>
                  <a:pt x="139217" y="2730"/>
                </a:lnTo>
                <a:lnTo>
                  <a:pt x="130251" y="2730"/>
                </a:lnTo>
                <a:lnTo>
                  <a:pt x="100431" y="22529"/>
                </a:lnTo>
                <a:lnTo>
                  <a:pt x="107124" y="20866"/>
                </a:lnTo>
                <a:lnTo>
                  <a:pt x="110540" y="20040"/>
                </a:lnTo>
                <a:lnTo>
                  <a:pt x="111734" y="20040"/>
                </a:lnTo>
                <a:lnTo>
                  <a:pt x="112242" y="23736"/>
                </a:lnTo>
                <a:lnTo>
                  <a:pt x="112242" y="31102"/>
                </a:lnTo>
                <a:lnTo>
                  <a:pt x="111671" y="38481"/>
                </a:lnTo>
                <a:lnTo>
                  <a:pt x="109931" y="49568"/>
                </a:lnTo>
                <a:lnTo>
                  <a:pt x="107022" y="64376"/>
                </a:lnTo>
                <a:lnTo>
                  <a:pt x="98933" y="101320"/>
                </a:lnTo>
                <a:lnTo>
                  <a:pt x="96050" y="115862"/>
                </a:lnTo>
                <a:lnTo>
                  <a:pt x="94322" y="126530"/>
                </a:lnTo>
                <a:lnTo>
                  <a:pt x="93738" y="133299"/>
                </a:lnTo>
                <a:lnTo>
                  <a:pt x="93738" y="139725"/>
                </a:lnTo>
                <a:lnTo>
                  <a:pt x="95275" y="144399"/>
                </a:lnTo>
                <a:lnTo>
                  <a:pt x="98348" y="147345"/>
                </a:lnTo>
                <a:lnTo>
                  <a:pt x="101460" y="150291"/>
                </a:lnTo>
                <a:lnTo>
                  <a:pt x="106540" y="151752"/>
                </a:lnTo>
                <a:lnTo>
                  <a:pt x="120624" y="151752"/>
                </a:lnTo>
                <a:lnTo>
                  <a:pt x="128473" y="149148"/>
                </a:lnTo>
                <a:lnTo>
                  <a:pt x="137096" y="143916"/>
                </a:lnTo>
                <a:lnTo>
                  <a:pt x="133527" y="140741"/>
                </a:lnTo>
                <a:lnTo>
                  <a:pt x="130619" y="138595"/>
                </a:lnTo>
                <a:lnTo>
                  <a:pt x="129159" y="133883"/>
                </a:lnTo>
                <a:lnTo>
                  <a:pt x="129159" y="126606"/>
                </a:lnTo>
                <a:lnTo>
                  <a:pt x="129882" y="114757"/>
                </a:lnTo>
                <a:lnTo>
                  <a:pt x="132067" y="99212"/>
                </a:lnTo>
                <a:lnTo>
                  <a:pt x="135686" y="79959"/>
                </a:lnTo>
                <a:lnTo>
                  <a:pt x="140766" y="56997"/>
                </a:lnTo>
                <a:lnTo>
                  <a:pt x="155308" y="97142"/>
                </a:lnTo>
                <a:lnTo>
                  <a:pt x="157454" y="103162"/>
                </a:lnTo>
                <a:lnTo>
                  <a:pt x="158534" y="107619"/>
                </a:lnTo>
                <a:lnTo>
                  <a:pt x="158534" y="113957"/>
                </a:lnTo>
                <a:lnTo>
                  <a:pt x="168071" y="113957"/>
                </a:lnTo>
                <a:lnTo>
                  <a:pt x="186905" y="101003"/>
                </a:lnTo>
                <a:lnTo>
                  <a:pt x="214337" y="51498"/>
                </a:lnTo>
                <a:lnTo>
                  <a:pt x="213728" y="54597"/>
                </a:lnTo>
                <a:lnTo>
                  <a:pt x="212128" y="61810"/>
                </a:lnTo>
                <a:lnTo>
                  <a:pt x="209562" y="73152"/>
                </a:lnTo>
                <a:lnTo>
                  <a:pt x="206006" y="88607"/>
                </a:lnTo>
                <a:lnTo>
                  <a:pt x="202488" y="104533"/>
                </a:lnTo>
                <a:lnTo>
                  <a:pt x="199974" y="117297"/>
                </a:lnTo>
                <a:lnTo>
                  <a:pt x="198475" y="126885"/>
                </a:lnTo>
                <a:lnTo>
                  <a:pt x="197967" y="133299"/>
                </a:lnTo>
                <a:lnTo>
                  <a:pt x="197967" y="139725"/>
                </a:lnTo>
                <a:lnTo>
                  <a:pt x="199555" y="144399"/>
                </a:lnTo>
                <a:lnTo>
                  <a:pt x="202730" y="147345"/>
                </a:lnTo>
                <a:lnTo>
                  <a:pt x="205943" y="150291"/>
                </a:lnTo>
                <a:lnTo>
                  <a:pt x="211048" y="151752"/>
                </a:lnTo>
                <a:lnTo>
                  <a:pt x="225107" y="151752"/>
                </a:lnTo>
                <a:lnTo>
                  <a:pt x="233108" y="149034"/>
                </a:lnTo>
                <a:lnTo>
                  <a:pt x="242074" y="143573"/>
                </a:lnTo>
                <a:lnTo>
                  <a:pt x="237655" y="140639"/>
                </a:lnTo>
                <a:lnTo>
                  <a:pt x="234950" y="138557"/>
                </a:lnTo>
                <a:lnTo>
                  <a:pt x="233591" y="134086"/>
                </a:lnTo>
                <a:lnTo>
                  <a:pt x="233591" y="127203"/>
                </a:lnTo>
                <a:lnTo>
                  <a:pt x="242100" y="70027"/>
                </a:lnTo>
                <a:lnTo>
                  <a:pt x="250964" y="32385"/>
                </a:lnTo>
                <a:lnTo>
                  <a:pt x="252095" y="25374"/>
                </a:lnTo>
                <a:lnTo>
                  <a:pt x="252095" y="8674"/>
                </a:lnTo>
                <a:close/>
              </a:path>
              <a:path w="568960" h="151765">
                <a:moveTo>
                  <a:pt x="371322" y="12788"/>
                </a:moveTo>
                <a:lnTo>
                  <a:pt x="368630" y="6908"/>
                </a:lnTo>
                <a:lnTo>
                  <a:pt x="367880" y="5956"/>
                </a:lnTo>
                <a:lnTo>
                  <a:pt x="363232" y="0"/>
                </a:lnTo>
                <a:lnTo>
                  <a:pt x="360413" y="3175"/>
                </a:lnTo>
                <a:lnTo>
                  <a:pt x="359714" y="4038"/>
                </a:lnTo>
                <a:lnTo>
                  <a:pt x="358267" y="4711"/>
                </a:lnTo>
                <a:lnTo>
                  <a:pt x="354228" y="5626"/>
                </a:lnTo>
                <a:lnTo>
                  <a:pt x="355358" y="5626"/>
                </a:lnTo>
                <a:lnTo>
                  <a:pt x="349364" y="5956"/>
                </a:lnTo>
                <a:lnTo>
                  <a:pt x="335572" y="5956"/>
                </a:lnTo>
                <a:lnTo>
                  <a:pt x="327926" y="5626"/>
                </a:lnTo>
                <a:lnTo>
                  <a:pt x="292214" y="2946"/>
                </a:lnTo>
                <a:lnTo>
                  <a:pt x="286562" y="2730"/>
                </a:lnTo>
                <a:lnTo>
                  <a:pt x="275907" y="2730"/>
                </a:lnTo>
                <a:lnTo>
                  <a:pt x="271792" y="3771"/>
                </a:lnTo>
                <a:lnTo>
                  <a:pt x="271551" y="3771"/>
                </a:lnTo>
                <a:lnTo>
                  <a:pt x="264020" y="8432"/>
                </a:lnTo>
                <a:lnTo>
                  <a:pt x="262178" y="12255"/>
                </a:lnTo>
                <a:lnTo>
                  <a:pt x="262178" y="22936"/>
                </a:lnTo>
                <a:lnTo>
                  <a:pt x="265061" y="28028"/>
                </a:lnTo>
                <a:lnTo>
                  <a:pt x="270814" y="32893"/>
                </a:lnTo>
                <a:lnTo>
                  <a:pt x="274535" y="36614"/>
                </a:lnTo>
                <a:lnTo>
                  <a:pt x="276326" y="31203"/>
                </a:lnTo>
                <a:lnTo>
                  <a:pt x="276872" y="28028"/>
                </a:lnTo>
                <a:lnTo>
                  <a:pt x="278041" y="26009"/>
                </a:lnTo>
                <a:lnTo>
                  <a:pt x="279387" y="25323"/>
                </a:lnTo>
                <a:lnTo>
                  <a:pt x="279247" y="26009"/>
                </a:lnTo>
                <a:lnTo>
                  <a:pt x="279158" y="29895"/>
                </a:lnTo>
                <a:lnTo>
                  <a:pt x="279069" y="31203"/>
                </a:lnTo>
                <a:lnTo>
                  <a:pt x="278955" y="32893"/>
                </a:lnTo>
                <a:lnTo>
                  <a:pt x="278904" y="33489"/>
                </a:lnTo>
                <a:lnTo>
                  <a:pt x="270116" y="82054"/>
                </a:lnTo>
                <a:lnTo>
                  <a:pt x="266014" y="100672"/>
                </a:lnTo>
                <a:lnTo>
                  <a:pt x="263093" y="115354"/>
                </a:lnTo>
                <a:lnTo>
                  <a:pt x="261327" y="126098"/>
                </a:lnTo>
                <a:lnTo>
                  <a:pt x="260743" y="132905"/>
                </a:lnTo>
                <a:lnTo>
                  <a:pt x="260743" y="139319"/>
                </a:lnTo>
                <a:lnTo>
                  <a:pt x="262280" y="144005"/>
                </a:lnTo>
                <a:lnTo>
                  <a:pt x="265353" y="146951"/>
                </a:lnTo>
                <a:lnTo>
                  <a:pt x="268465" y="149860"/>
                </a:lnTo>
                <a:lnTo>
                  <a:pt x="273545" y="151307"/>
                </a:lnTo>
                <a:lnTo>
                  <a:pt x="287629" y="151307"/>
                </a:lnTo>
                <a:lnTo>
                  <a:pt x="295478" y="148717"/>
                </a:lnTo>
                <a:lnTo>
                  <a:pt x="304101" y="143522"/>
                </a:lnTo>
                <a:lnTo>
                  <a:pt x="300532" y="140347"/>
                </a:lnTo>
                <a:lnTo>
                  <a:pt x="297624" y="138201"/>
                </a:lnTo>
                <a:lnTo>
                  <a:pt x="296164" y="133184"/>
                </a:lnTo>
                <a:lnTo>
                  <a:pt x="296164" y="125310"/>
                </a:lnTo>
                <a:lnTo>
                  <a:pt x="296481" y="118529"/>
                </a:lnTo>
                <a:lnTo>
                  <a:pt x="297446" y="109956"/>
                </a:lnTo>
                <a:lnTo>
                  <a:pt x="299046" y="99618"/>
                </a:lnTo>
                <a:lnTo>
                  <a:pt x="301282" y="87515"/>
                </a:lnTo>
                <a:lnTo>
                  <a:pt x="333121" y="87515"/>
                </a:lnTo>
                <a:lnTo>
                  <a:pt x="335737" y="87680"/>
                </a:lnTo>
                <a:lnTo>
                  <a:pt x="337883" y="88341"/>
                </a:lnTo>
                <a:lnTo>
                  <a:pt x="338455" y="88569"/>
                </a:lnTo>
                <a:lnTo>
                  <a:pt x="338480" y="88709"/>
                </a:lnTo>
                <a:lnTo>
                  <a:pt x="340321" y="96050"/>
                </a:lnTo>
                <a:lnTo>
                  <a:pt x="344233" y="90144"/>
                </a:lnTo>
                <a:lnTo>
                  <a:pt x="347002" y="87515"/>
                </a:lnTo>
                <a:lnTo>
                  <a:pt x="347548" y="86995"/>
                </a:lnTo>
                <a:lnTo>
                  <a:pt x="349199" y="83451"/>
                </a:lnTo>
                <a:lnTo>
                  <a:pt x="349199" y="75514"/>
                </a:lnTo>
                <a:lnTo>
                  <a:pt x="347941" y="72364"/>
                </a:lnTo>
                <a:lnTo>
                  <a:pt x="345427" y="70053"/>
                </a:lnTo>
                <a:lnTo>
                  <a:pt x="342950" y="67703"/>
                </a:lnTo>
                <a:lnTo>
                  <a:pt x="339623" y="66535"/>
                </a:lnTo>
                <a:lnTo>
                  <a:pt x="305638" y="66535"/>
                </a:lnTo>
                <a:lnTo>
                  <a:pt x="306044" y="64770"/>
                </a:lnTo>
                <a:lnTo>
                  <a:pt x="312928" y="36614"/>
                </a:lnTo>
                <a:lnTo>
                  <a:pt x="314350" y="29895"/>
                </a:lnTo>
                <a:lnTo>
                  <a:pt x="314718" y="26492"/>
                </a:lnTo>
                <a:lnTo>
                  <a:pt x="316903" y="26924"/>
                </a:lnTo>
                <a:lnTo>
                  <a:pt x="341388" y="32435"/>
                </a:lnTo>
                <a:lnTo>
                  <a:pt x="349161" y="33489"/>
                </a:lnTo>
                <a:lnTo>
                  <a:pt x="360083" y="33489"/>
                </a:lnTo>
                <a:lnTo>
                  <a:pt x="363918" y="32054"/>
                </a:lnTo>
                <a:lnTo>
                  <a:pt x="369595" y="26492"/>
                </a:lnTo>
                <a:lnTo>
                  <a:pt x="369836" y="26263"/>
                </a:lnTo>
                <a:lnTo>
                  <a:pt x="369938" y="26009"/>
                </a:lnTo>
                <a:lnTo>
                  <a:pt x="370370" y="24892"/>
                </a:lnTo>
                <a:lnTo>
                  <a:pt x="371322" y="22415"/>
                </a:lnTo>
                <a:lnTo>
                  <a:pt x="371322" y="12788"/>
                </a:lnTo>
                <a:close/>
              </a:path>
              <a:path w="568960" h="151765">
                <a:moveTo>
                  <a:pt x="482727" y="131368"/>
                </a:moveTo>
                <a:lnTo>
                  <a:pt x="478116" y="131368"/>
                </a:lnTo>
                <a:lnTo>
                  <a:pt x="476199" y="131165"/>
                </a:lnTo>
                <a:lnTo>
                  <a:pt x="467753" y="113461"/>
                </a:lnTo>
                <a:lnTo>
                  <a:pt x="464489" y="96710"/>
                </a:lnTo>
                <a:lnTo>
                  <a:pt x="457022" y="53632"/>
                </a:lnTo>
                <a:lnTo>
                  <a:pt x="452056" y="20040"/>
                </a:lnTo>
                <a:lnTo>
                  <a:pt x="451700" y="17411"/>
                </a:lnTo>
                <a:lnTo>
                  <a:pt x="449516" y="11379"/>
                </a:lnTo>
                <a:lnTo>
                  <a:pt x="449402" y="11252"/>
                </a:lnTo>
                <a:lnTo>
                  <a:pt x="443103" y="4470"/>
                </a:lnTo>
                <a:lnTo>
                  <a:pt x="438924" y="2730"/>
                </a:lnTo>
                <a:lnTo>
                  <a:pt x="432422" y="2730"/>
                </a:lnTo>
                <a:lnTo>
                  <a:pt x="432422" y="93967"/>
                </a:lnTo>
                <a:lnTo>
                  <a:pt x="403352" y="93967"/>
                </a:lnTo>
                <a:lnTo>
                  <a:pt x="405726" y="89395"/>
                </a:lnTo>
                <a:lnTo>
                  <a:pt x="409638" y="82321"/>
                </a:lnTo>
                <a:lnTo>
                  <a:pt x="414782" y="73253"/>
                </a:lnTo>
                <a:lnTo>
                  <a:pt x="421462" y="61671"/>
                </a:lnTo>
                <a:lnTo>
                  <a:pt x="426021" y="53632"/>
                </a:lnTo>
                <a:lnTo>
                  <a:pt x="427202" y="61671"/>
                </a:lnTo>
                <a:lnTo>
                  <a:pt x="428472" y="69837"/>
                </a:lnTo>
                <a:lnTo>
                  <a:pt x="430250" y="80911"/>
                </a:lnTo>
                <a:lnTo>
                  <a:pt x="432422" y="93967"/>
                </a:lnTo>
                <a:lnTo>
                  <a:pt x="432422" y="2730"/>
                </a:lnTo>
                <a:lnTo>
                  <a:pt x="428637" y="2730"/>
                </a:lnTo>
                <a:lnTo>
                  <a:pt x="423926" y="3822"/>
                </a:lnTo>
                <a:lnTo>
                  <a:pt x="415328" y="8191"/>
                </a:lnTo>
                <a:lnTo>
                  <a:pt x="411822" y="11252"/>
                </a:lnTo>
                <a:lnTo>
                  <a:pt x="411734" y="11379"/>
                </a:lnTo>
                <a:lnTo>
                  <a:pt x="409105" y="15189"/>
                </a:lnTo>
                <a:lnTo>
                  <a:pt x="403898" y="22529"/>
                </a:lnTo>
                <a:lnTo>
                  <a:pt x="414007" y="20040"/>
                </a:lnTo>
                <a:lnTo>
                  <a:pt x="414502" y="20040"/>
                </a:lnTo>
                <a:lnTo>
                  <a:pt x="414667" y="20624"/>
                </a:lnTo>
                <a:lnTo>
                  <a:pt x="414667" y="21780"/>
                </a:lnTo>
                <a:lnTo>
                  <a:pt x="395871" y="61429"/>
                </a:lnTo>
                <a:lnTo>
                  <a:pt x="375869" y="94361"/>
                </a:lnTo>
                <a:lnTo>
                  <a:pt x="368833" y="106578"/>
                </a:lnTo>
                <a:lnTo>
                  <a:pt x="363816" y="117068"/>
                </a:lnTo>
                <a:lnTo>
                  <a:pt x="360794" y="125844"/>
                </a:lnTo>
                <a:lnTo>
                  <a:pt x="359791" y="132905"/>
                </a:lnTo>
                <a:lnTo>
                  <a:pt x="359791" y="145173"/>
                </a:lnTo>
                <a:lnTo>
                  <a:pt x="365531" y="151307"/>
                </a:lnTo>
                <a:lnTo>
                  <a:pt x="382701" y="151307"/>
                </a:lnTo>
                <a:lnTo>
                  <a:pt x="389864" y="148717"/>
                </a:lnTo>
                <a:lnTo>
                  <a:pt x="398487" y="143522"/>
                </a:lnTo>
                <a:lnTo>
                  <a:pt x="394919" y="140398"/>
                </a:lnTo>
                <a:lnTo>
                  <a:pt x="392010" y="138112"/>
                </a:lnTo>
                <a:lnTo>
                  <a:pt x="390550" y="134759"/>
                </a:lnTo>
                <a:lnTo>
                  <a:pt x="390563" y="125844"/>
                </a:lnTo>
                <a:lnTo>
                  <a:pt x="391363" y="120269"/>
                </a:lnTo>
                <a:lnTo>
                  <a:pt x="392988" y="113461"/>
                </a:lnTo>
                <a:lnTo>
                  <a:pt x="392988" y="114452"/>
                </a:lnTo>
                <a:lnTo>
                  <a:pt x="393611" y="114947"/>
                </a:lnTo>
                <a:lnTo>
                  <a:pt x="435800" y="114947"/>
                </a:lnTo>
                <a:lnTo>
                  <a:pt x="436232" y="117627"/>
                </a:lnTo>
                <a:lnTo>
                  <a:pt x="437172" y="122707"/>
                </a:lnTo>
                <a:lnTo>
                  <a:pt x="452742" y="151307"/>
                </a:lnTo>
                <a:lnTo>
                  <a:pt x="458076" y="151307"/>
                </a:lnTo>
                <a:lnTo>
                  <a:pt x="465061" y="150368"/>
                </a:lnTo>
                <a:lnTo>
                  <a:pt x="471233" y="147510"/>
                </a:lnTo>
                <a:lnTo>
                  <a:pt x="476592" y="142773"/>
                </a:lnTo>
                <a:lnTo>
                  <a:pt x="481139" y="136131"/>
                </a:lnTo>
                <a:lnTo>
                  <a:pt x="482727" y="131368"/>
                </a:lnTo>
                <a:close/>
              </a:path>
              <a:path w="568960" h="151765">
                <a:moveTo>
                  <a:pt x="568794" y="97040"/>
                </a:moveTo>
                <a:lnTo>
                  <a:pt x="554736" y="54559"/>
                </a:lnTo>
                <a:lnTo>
                  <a:pt x="527989" y="22288"/>
                </a:lnTo>
                <a:lnTo>
                  <a:pt x="526389" y="20523"/>
                </a:lnTo>
                <a:lnTo>
                  <a:pt x="526326" y="19989"/>
                </a:lnTo>
                <a:lnTo>
                  <a:pt x="526326" y="19494"/>
                </a:lnTo>
                <a:lnTo>
                  <a:pt x="536003" y="19443"/>
                </a:lnTo>
                <a:lnTo>
                  <a:pt x="530669" y="12966"/>
                </a:lnTo>
                <a:lnTo>
                  <a:pt x="525462" y="8674"/>
                </a:lnTo>
                <a:lnTo>
                  <a:pt x="520369" y="6553"/>
                </a:lnTo>
                <a:lnTo>
                  <a:pt x="515315" y="4406"/>
                </a:lnTo>
                <a:lnTo>
                  <a:pt x="508723" y="3327"/>
                </a:lnTo>
                <a:lnTo>
                  <a:pt x="492518" y="3327"/>
                </a:lnTo>
                <a:lnTo>
                  <a:pt x="488467" y="6083"/>
                </a:lnTo>
                <a:lnTo>
                  <a:pt x="488467" y="14046"/>
                </a:lnTo>
                <a:lnTo>
                  <a:pt x="507974" y="40233"/>
                </a:lnTo>
                <a:lnTo>
                  <a:pt x="513930" y="46939"/>
                </a:lnTo>
                <a:lnTo>
                  <a:pt x="538302" y="90322"/>
                </a:lnTo>
                <a:lnTo>
                  <a:pt x="539076" y="95834"/>
                </a:lnTo>
                <a:lnTo>
                  <a:pt x="539076" y="105486"/>
                </a:lnTo>
                <a:lnTo>
                  <a:pt x="537451" y="110477"/>
                </a:lnTo>
                <a:lnTo>
                  <a:pt x="530974" y="120802"/>
                </a:lnTo>
                <a:lnTo>
                  <a:pt x="526719" y="124891"/>
                </a:lnTo>
                <a:lnTo>
                  <a:pt x="521462" y="127901"/>
                </a:lnTo>
                <a:lnTo>
                  <a:pt x="517156" y="130479"/>
                </a:lnTo>
                <a:lnTo>
                  <a:pt x="512648" y="131762"/>
                </a:lnTo>
                <a:lnTo>
                  <a:pt x="507428" y="131762"/>
                </a:lnTo>
                <a:lnTo>
                  <a:pt x="505434" y="131419"/>
                </a:lnTo>
                <a:lnTo>
                  <a:pt x="501967" y="130721"/>
                </a:lnTo>
                <a:lnTo>
                  <a:pt x="505129" y="139471"/>
                </a:lnTo>
                <a:lnTo>
                  <a:pt x="510057" y="145719"/>
                </a:lnTo>
                <a:lnTo>
                  <a:pt x="516737" y="149466"/>
                </a:lnTo>
                <a:lnTo>
                  <a:pt x="525183" y="150710"/>
                </a:lnTo>
                <a:lnTo>
                  <a:pt x="532333" y="150710"/>
                </a:lnTo>
                <a:lnTo>
                  <a:pt x="562140" y="125171"/>
                </a:lnTo>
                <a:lnTo>
                  <a:pt x="568375" y="104825"/>
                </a:lnTo>
                <a:lnTo>
                  <a:pt x="568794" y="970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839841" y="8433444"/>
            <a:ext cx="1151582" cy="159196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064765" y="8443614"/>
            <a:ext cx="414337" cy="198983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41220" y="8714986"/>
            <a:ext cx="2655516" cy="183008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860663" y="8714986"/>
            <a:ext cx="2354555" cy="183008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1587500" y="8919210"/>
            <a:ext cx="10915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45">
                <a:latin typeface="Cambria"/>
                <a:cs typeface="Cambria"/>
              </a:rPr>
              <a:t>Email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code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25">
                <a:latin typeface="Cambria"/>
                <a:cs typeface="Cambria"/>
              </a:rPr>
              <a:t>SMS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118" y="1332476"/>
            <a:ext cx="1777166" cy="13929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118" y="2170677"/>
            <a:ext cx="1158579" cy="18300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87500" y="866139"/>
            <a:ext cx="3443604" cy="2094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65530">
              <a:lnSpc>
                <a:spcPct val="117000"/>
              </a:lnSpc>
              <a:spcBef>
                <a:spcPts val="100"/>
              </a:spcBef>
            </a:pPr>
            <a:r>
              <a:rPr dirty="0" sz="1100" spc="-35">
                <a:latin typeface="Cambria"/>
                <a:cs typeface="Cambria"/>
              </a:rPr>
              <a:t>One-</a:t>
            </a:r>
            <a:r>
              <a:rPr dirty="0" sz="1100" spc="-55">
                <a:latin typeface="Cambria"/>
                <a:cs typeface="Cambria"/>
              </a:rPr>
              <a:t>time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based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time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(TOTP) </a:t>
            </a:r>
            <a:r>
              <a:rPr dirty="0" sz="1100" spc="-35">
                <a:latin typeface="Cambria"/>
                <a:cs typeface="Cambria"/>
              </a:rPr>
              <a:t>Push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alerts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mobile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application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logging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successfully,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problem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7000"/>
              </a:lnSpc>
            </a:pPr>
            <a:r>
              <a:rPr dirty="0" sz="1100" spc="-20">
                <a:latin typeface="Cambria"/>
                <a:cs typeface="Cambria"/>
              </a:rPr>
              <a:t>Short-</a:t>
            </a:r>
            <a:r>
              <a:rPr dirty="0" sz="1100" spc="-60">
                <a:latin typeface="Cambria"/>
                <a:cs typeface="Cambria"/>
              </a:rPr>
              <a:t>lived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access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tokens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used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gain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access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resources.</a:t>
            </a:r>
            <a:r>
              <a:rPr dirty="0" sz="1100" spc="-30">
                <a:latin typeface="Cambria"/>
                <a:cs typeface="Cambria"/>
              </a:rPr>
              <a:t> 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get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new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access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tokens,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utilize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refresh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token.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995805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Have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no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state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(like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JWT) </a:t>
            </a:r>
            <a:r>
              <a:rPr dirty="0" sz="1100" spc="-60">
                <a:latin typeface="Cambria"/>
                <a:cs typeface="Cambria"/>
              </a:rPr>
              <a:t>Add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expiration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time.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safely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signed.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067" y="3022620"/>
            <a:ext cx="152628" cy="14858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76560" y="3012450"/>
            <a:ext cx="567868" cy="1591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11025" y="3022620"/>
            <a:ext cx="591403" cy="14902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1742" y="3012450"/>
            <a:ext cx="1795353" cy="1591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3037" y="3302891"/>
            <a:ext cx="1293944" cy="17411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9968" y="4132192"/>
            <a:ext cx="1317426" cy="13929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02364" y="4141091"/>
            <a:ext cx="779802" cy="17411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587500" y="3469640"/>
            <a:ext cx="4123054" cy="1256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100" spc="-60">
                <a:latin typeface="Cambria"/>
                <a:cs typeface="Cambria"/>
              </a:rPr>
              <a:t>Keep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track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devices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used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(OS,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device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type,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IP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address). </a:t>
            </a:r>
            <a:r>
              <a:rPr dirty="0" sz="1100" spc="-40">
                <a:latin typeface="Cambria"/>
                <a:cs typeface="Cambria"/>
              </a:rPr>
              <a:t>Notify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when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new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device.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Give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ability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end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active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sessions.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0">
                <a:latin typeface="Cambria"/>
                <a:cs typeface="Cambria"/>
              </a:rPr>
              <a:t>Find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odd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places.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Notify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prevent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logins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IP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addresses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areas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pose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danger.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9895" y="4787920"/>
            <a:ext cx="149800" cy="14858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76560" y="4777750"/>
            <a:ext cx="1882457" cy="162173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29920" y="4787920"/>
            <a:ext cx="655210" cy="198983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7427" y="5059292"/>
            <a:ext cx="1511352" cy="18300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49101" y="5305274"/>
            <a:ext cx="1742822" cy="15686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47427" y="6512815"/>
            <a:ext cx="359499" cy="14711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71488" y="6503916"/>
            <a:ext cx="1189426" cy="183008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587500" y="5448935"/>
            <a:ext cx="4951730" cy="1452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286885">
              <a:lnSpc>
                <a:spcPct val="117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Google Apple Facebook </a:t>
            </a:r>
            <a:r>
              <a:rPr dirty="0" sz="1100" spc="-30">
                <a:latin typeface="Cambria"/>
                <a:cs typeface="Cambria"/>
              </a:rPr>
              <a:t>GitHub,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etc.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60">
                <a:latin typeface="Cambria"/>
                <a:cs typeface="Cambria"/>
              </a:rPr>
              <a:t>beneficial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improving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lowering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friction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through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reputable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suppliers.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businesses,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SAML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OpenID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Connect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integrate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identity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providers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(IdPs).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49101" y="6960651"/>
            <a:ext cx="150594" cy="15135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76560" y="6953260"/>
            <a:ext cx="1555700" cy="20915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96862" y="6953260"/>
            <a:ext cx="828774" cy="16217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889256" y="6953260"/>
            <a:ext cx="724197" cy="209153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50118" y="7234801"/>
            <a:ext cx="1630618" cy="15600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848641" y="7234801"/>
            <a:ext cx="2095942" cy="183008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1587500" y="7410450"/>
            <a:ext cx="5057140" cy="1006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923665">
              <a:lnSpc>
                <a:spcPct val="117000"/>
              </a:lnSpc>
              <a:spcBef>
                <a:spcPts val="100"/>
              </a:spcBef>
            </a:pPr>
            <a:r>
              <a:rPr dirty="0" sz="1100" spc="-45">
                <a:latin typeface="Cambria"/>
                <a:cs typeface="Cambria"/>
              </a:rPr>
              <a:t>"Invalid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credentials"</a:t>
            </a:r>
            <a:r>
              <a:rPr dirty="0" sz="1100">
                <a:latin typeface="Cambria"/>
                <a:cs typeface="Cambria"/>
              </a:rPr>
              <a:t> "MFA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needed"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25">
                <a:latin typeface="Cambria"/>
                <a:cs typeface="Cambria"/>
              </a:rPr>
              <a:t>"The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account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locked.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fifteen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minutes,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try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again.</a:t>
            </a:r>
            <a:endParaRPr sz="1100">
              <a:latin typeface="Cambria"/>
              <a:cs typeface="Cambria"/>
            </a:endParaRPr>
          </a:p>
          <a:p>
            <a:pPr marL="241300" marR="5080" indent="-228600">
              <a:lnSpc>
                <a:spcPct val="117000"/>
              </a:lnSpc>
            </a:pPr>
            <a:r>
              <a:rPr dirty="0" sz="1100" spc="-60">
                <a:latin typeface="Cambria"/>
                <a:cs typeface="Cambria"/>
              </a:rPr>
              <a:t>Keep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error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messages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being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too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precise,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this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could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aid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attackers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(e.g.,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don't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reveal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if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username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invalid).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50739" y="8479175"/>
            <a:ext cx="148957" cy="14858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376560" y="8478778"/>
            <a:ext cx="1102389" cy="199380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56391" y="8479175"/>
            <a:ext cx="635297" cy="198983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50118" y="8750547"/>
            <a:ext cx="1386940" cy="183008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03807" y="8750547"/>
            <a:ext cx="964731" cy="1830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118" y="1724906"/>
            <a:ext cx="2546689" cy="1830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587500" y="866139"/>
            <a:ext cx="1814195" cy="1648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99820">
              <a:lnSpc>
                <a:spcPct val="117000"/>
              </a:lnSpc>
              <a:spcBef>
                <a:spcPts val="100"/>
              </a:spcBef>
            </a:pPr>
            <a:r>
              <a:rPr dirty="0" sz="1100" spc="-45">
                <a:latin typeface="Cambria"/>
                <a:cs typeface="Cambria"/>
              </a:rPr>
              <a:t>Timestamps</a:t>
            </a:r>
            <a:r>
              <a:rPr dirty="0" sz="1100">
                <a:latin typeface="Cambria"/>
                <a:cs typeface="Cambria"/>
              </a:rPr>
              <a:t> IP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addresses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50">
                <a:latin typeface="Cambria"/>
                <a:cs typeface="Cambria"/>
              </a:rPr>
              <a:t>Agents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users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Whether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it's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success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failure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547370">
              <a:lnSpc>
                <a:spcPct val="117000"/>
              </a:lnSpc>
            </a:pPr>
            <a:r>
              <a:rPr dirty="0" sz="1100" spc="-25">
                <a:latin typeface="Cambria"/>
                <a:cs typeface="Cambria"/>
              </a:rPr>
              <a:t>Stuffing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credentials </a:t>
            </a:r>
            <a:r>
              <a:rPr dirty="0" sz="1100" spc="-30">
                <a:latin typeface="Cambria"/>
                <a:cs typeface="Cambria"/>
              </a:rPr>
              <a:t>Log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odd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places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30">
                <a:latin typeface="Cambria"/>
                <a:cs typeface="Cambria"/>
              </a:rPr>
              <a:t>Several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unsuccessful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attempts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135" y="2566680"/>
            <a:ext cx="1766887" cy="16256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8290" y="2576850"/>
            <a:ext cx="591006" cy="19898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1765" y="2566680"/>
            <a:ext cx="1031418" cy="1591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51814" y="2566680"/>
            <a:ext cx="591254" cy="164851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159712" y="2857120"/>
            <a:ext cx="121285" cy="130175"/>
            <a:chOff x="1159712" y="2857120"/>
            <a:chExt cx="121285" cy="130175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9712" y="2857120"/>
              <a:ext cx="65676" cy="12966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51371" y="2957914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18578" y="29213"/>
                  </a:moveTo>
                  <a:lnTo>
                    <a:pt x="10591" y="29213"/>
                  </a:lnTo>
                  <a:lnTo>
                    <a:pt x="7162" y="27781"/>
                  </a:lnTo>
                  <a:lnTo>
                    <a:pt x="4297" y="24916"/>
                  </a:lnTo>
                  <a:lnTo>
                    <a:pt x="1432" y="22022"/>
                  </a:lnTo>
                  <a:lnTo>
                    <a:pt x="0" y="18593"/>
                  </a:lnTo>
                  <a:lnTo>
                    <a:pt x="0" y="10635"/>
                  </a:lnTo>
                  <a:lnTo>
                    <a:pt x="1432" y="7205"/>
                  </a:lnTo>
                  <a:lnTo>
                    <a:pt x="4297" y="4340"/>
                  </a:lnTo>
                  <a:lnTo>
                    <a:pt x="7162" y="1446"/>
                  </a:lnTo>
                  <a:lnTo>
                    <a:pt x="10591" y="0"/>
                  </a:lnTo>
                  <a:lnTo>
                    <a:pt x="18578" y="0"/>
                  </a:lnTo>
                  <a:lnTo>
                    <a:pt x="22007" y="1446"/>
                  </a:lnTo>
                  <a:lnTo>
                    <a:pt x="24872" y="4340"/>
                  </a:lnTo>
                  <a:lnTo>
                    <a:pt x="27766" y="7205"/>
                  </a:lnTo>
                  <a:lnTo>
                    <a:pt x="29213" y="10635"/>
                  </a:lnTo>
                  <a:lnTo>
                    <a:pt x="29213" y="18593"/>
                  </a:lnTo>
                  <a:lnTo>
                    <a:pt x="27766" y="22022"/>
                  </a:lnTo>
                  <a:lnTo>
                    <a:pt x="22007" y="27781"/>
                  </a:lnTo>
                  <a:lnTo>
                    <a:pt x="18578" y="2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7603" y="2854733"/>
            <a:ext cx="1045128" cy="176497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8860" y="3499106"/>
            <a:ext cx="131725" cy="13287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47603" y="3490207"/>
            <a:ext cx="825253" cy="18300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6559" y="4141091"/>
            <a:ext cx="134025" cy="130007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44912" y="4132192"/>
            <a:ext cx="934068" cy="13929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47353" y="4141091"/>
            <a:ext cx="1112178" cy="13039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9033" y="4783075"/>
            <a:ext cx="131551" cy="130007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47603" y="4774177"/>
            <a:ext cx="1264445" cy="139296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676658" y="4783075"/>
            <a:ext cx="959507" cy="17411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48339" y="5422630"/>
            <a:ext cx="132246" cy="132438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47603" y="5416162"/>
            <a:ext cx="2148037" cy="18300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0739" y="6071890"/>
            <a:ext cx="148957" cy="14858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73485" y="6071890"/>
            <a:ext cx="676562" cy="19898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21197" y="6061720"/>
            <a:ext cx="769828" cy="159196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51135" y="6943120"/>
            <a:ext cx="148560" cy="151110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66639" y="6935480"/>
            <a:ext cx="620335" cy="159196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051982" y="6935480"/>
            <a:ext cx="1759466" cy="209153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45430" y="7623195"/>
            <a:ext cx="154265" cy="14858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376560" y="7613025"/>
            <a:ext cx="1030922" cy="159196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476797" y="7613025"/>
            <a:ext cx="800308" cy="159196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44207" y="7613025"/>
            <a:ext cx="539412" cy="159196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48705" y="8693170"/>
            <a:ext cx="150991" cy="14858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76560" y="8683000"/>
            <a:ext cx="1497955" cy="209153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1587500" y="3023870"/>
            <a:ext cx="5055870" cy="608838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00" spc="-45">
                <a:latin typeface="Cambria"/>
                <a:cs typeface="Cambria"/>
              </a:rPr>
              <a:t>Calculate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time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required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authenticate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user.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Under</a:t>
            </a:r>
            <a:r>
              <a:rPr dirty="0" sz="1100" spc="-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typical</a:t>
            </a:r>
            <a:r>
              <a:rPr dirty="0" sz="1100" spc="-1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traffic,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an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acceptable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login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API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response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time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should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be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less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than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300–500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ms.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414655">
              <a:lnSpc>
                <a:spcPct val="117000"/>
              </a:lnSpc>
            </a:pPr>
            <a:r>
              <a:rPr dirty="0" sz="1100" spc="-65">
                <a:latin typeface="Cambria"/>
                <a:cs typeface="Cambria"/>
              </a:rPr>
              <a:t>Determine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how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many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requests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system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can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process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minute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second. </a:t>
            </a:r>
            <a:r>
              <a:rPr dirty="0" sz="1100" spc="-65">
                <a:latin typeface="Cambria"/>
                <a:cs typeface="Cambria"/>
              </a:rPr>
              <a:t>helpful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ensuring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scalability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during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load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testing.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0">
                <a:latin typeface="Cambria"/>
                <a:cs typeface="Cambria"/>
              </a:rPr>
              <a:t>Check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system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can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manage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several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logins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once.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example,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Monday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9:00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AM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simulate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peak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demand.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450215">
              <a:lnSpc>
                <a:spcPct val="117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valid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requests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not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slowed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95">
                <a:latin typeface="Cambria"/>
                <a:cs typeface="Cambria"/>
              </a:rPr>
              <a:t>down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rate-</a:t>
            </a:r>
            <a:r>
              <a:rPr dirty="0" sz="1100" spc="-50">
                <a:latin typeface="Cambria"/>
                <a:cs typeface="Cambria"/>
              </a:rPr>
              <a:t>limiting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mechanism.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Analyze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system's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reaction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when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approaches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limit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thresholds.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941705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When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confirming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credentials,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keep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eye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database's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response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time. </a:t>
            </a: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indexing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(e.g.,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email/username)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optimum.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5">
                <a:latin typeface="Cambria"/>
                <a:cs typeface="Cambria"/>
              </a:rPr>
              <a:t>Access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tokens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ought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temporary.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70">
                <a:latin typeface="Cambria"/>
                <a:cs typeface="Cambria"/>
              </a:rPr>
              <a:t>Revocable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securely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stored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refresh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tokens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essential.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20">
                <a:latin typeface="Cambria"/>
                <a:cs typeface="Cambria"/>
              </a:rPr>
              <a:t>Verify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every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token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assertion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(issuer,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audience,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expiration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date,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etc.).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Cambria"/>
              <a:cs typeface="Cambria"/>
            </a:endParaRPr>
          </a:p>
          <a:p>
            <a:pPr marL="12700" marR="21590">
              <a:lnSpc>
                <a:spcPct val="117000"/>
              </a:lnSpc>
              <a:spcBef>
                <a:spcPts val="5"/>
              </a:spcBef>
            </a:pPr>
            <a:r>
              <a:rPr dirty="0" sz="1100" spc="-55">
                <a:latin typeface="Cambria"/>
                <a:cs typeface="Cambria"/>
              </a:rPr>
              <a:t>Identify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stop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attempts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credentials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have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been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known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compromised.</a:t>
            </a:r>
            <a:r>
              <a:rPr dirty="0" sz="1100" spc="-10">
                <a:latin typeface="Cambria"/>
                <a:cs typeface="Cambria"/>
              </a:rPr>
              <a:t> 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internal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monitoring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services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HaveIBeenPwned.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0">
                <a:latin typeface="Cambria"/>
                <a:cs typeface="Cambria"/>
              </a:rPr>
              <a:t>Block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flag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logins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coming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from: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New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gadgets</a:t>
            </a:r>
            <a:endParaRPr sz="1100">
              <a:latin typeface="Cambria"/>
              <a:cs typeface="Cambria"/>
            </a:endParaRPr>
          </a:p>
          <a:p>
            <a:pPr marL="12700" marR="2933700">
              <a:lnSpc>
                <a:spcPct val="117000"/>
              </a:lnSpc>
            </a:pPr>
            <a:r>
              <a:rPr dirty="0" sz="1100" spc="-75">
                <a:latin typeface="Cambria"/>
                <a:cs typeface="Cambria"/>
              </a:rPr>
              <a:t>Unknown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geolocations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IP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addresses</a:t>
            </a:r>
            <a:r>
              <a:rPr dirty="0" sz="1100">
                <a:latin typeface="Cambria"/>
                <a:cs typeface="Cambria"/>
              </a:rPr>
              <a:t> TOR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proxy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networks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5">
                <a:latin typeface="Cambria"/>
                <a:cs typeface="Cambria"/>
              </a:rPr>
              <a:t>Record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every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attempt,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whether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successful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unsuccessful,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including: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62099" y="1738649"/>
            <a:ext cx="254000" cy="148590"/>
            <a:chOff x="1162099" y="1738649"/>
            <a:chExt cx="254000" cy="1485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099" y="1738649"/>
              <a:ext cx="75058" cy="14818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41" y="1738649"/>
              <a:ext cx="153459" cy="148580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9055" y="1738649"/>
            <a:ext cx="677197" cy="19898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37402" y="1728479"/>
            <a:ext cx="468391" cy="1591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75466" y="1735921"/>
            <a:ext cx="817235" cy="20171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9385" y="1738649"/>
            <a:ext cx="472955" cy="198983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162099" y="2416194"/>
            <a:ext cx="254000" cy="148590"/>
            <a:chOff x="1162099" y="2416194"/>
            <a:chExt cx="254000" cy="148590"/>
          </a:xfrm>
        </p:grpSpPr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62099" y="2416194"/>
              <a:ext cx="75058" cy="14818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7669" y="2416194"/>
              <a:ext cx="75058" cy="14818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382514" y="2531387"/>
              <a:ext cx="33655" cy="33655"/>
            </a:xfrm>
            <a:custGeom>
              <a:avLst/>
              <a:gdLst/>
              <a:ahLst/>
              <a:cxnLst/>
              <a:rect l="l" t="t" r="r" b="b"/>
              <a:pathLst>
                <a:path w="33655" h="33655">
                  <a:moveTo>
                    <a:pt x="21232" y="33387"/>
                  </a:moveTo>
                  <a:lnTo>
                    <a:pt x="12104" y="33387"/>
                  </a:lnTo>
                  <a:lnTo>
                    <a:pt x="8185" y="31750"/>
                  </a:lnTo>
                  <a:lnTo>
                    <a:pt x="4911" y="28475"/>
                  </a:lnTo>
                  <a:lnTo>
                    <a:pt x="1637" y="25168"/>
                  </a:lnTo>
                  <a:lnTo>
                    <a:pt x="0" y="21249"/>
                  </a:lnTo>
                  <a:lnTo>
                    <a:pt x="0" y="12154"/>
                  </a:lnTo>
                  <a:lnTo>
                    <a:pt x="1637" y="8235"/>
                  </a:lnTo>
                  <a:lnTo>
                    <a:pt x="4911" y="4960"/>
                  </a:lnTo>
                  <a:lnTo>
                    <a:pt x="8185" y="1653"/>
                  </a:lnTo>
                  <a:lnTo>
                    <a:pt x="12104" y="0"/>
                  </a:lnTo>
                  <a:lnTo>
                    <a:pt x="21232" y="0"/>
                  </a:lnTo>
                  <a:lnTo>
                    <a:pt x="25151" y="1653"/>
                  </a:lnTo>
                  <a:lnTo>
                    <a:pt x="28426" y="4960"/>
                  </a:lnTo>
                  <a:lnTo>
                    <a:pt x="31733" y="8235"/>
                  </a:lnTo>
                  <a:lnTo>
                    <a:pt x="33387" y="12154"/>
                  </a:lnTo>
                  <a:lnTo>
                    <a:pt x="33387" y="21249"/>
                  </a:lnTo>
                  <a:lnTo>
                    <a:pt x="31733" y="25168"/>
                  </a:lnTo>
                  <a:lnTo>
                    <a:pt x="25151" y="31750"/>
                  </a:lnTo>
                  <a:lnTo>
                    <a:pt x="21232" y="33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86227" y="2406025"/>
            <a:ext cx="807591" cy="15919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63132" y="2406025"/>
            <a:ext cx="636478" cy="209153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1162099" y="3093739"/>
            <a:ext cx="254000" cy="152400"/>
            <a:chOff x="1162099" y="3093739"/>
            <a:chExt cx="254000" cy="152400"/>
          </a:xfrm>
        </p:grpSpPr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2099" y="3093739"/>
              <a:ext cx="75058" cy="14818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65267" y="3093739"/>
              <a:ext cx="150633" cy="151854"/>
            </a:xfrm>
            <a:prstGeom prst="rect">
              <a:avLst/>
            </a:prstGeom>
          </p:spPr>
        </p:pic>
      </p:grpSp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92130" y="3093739"/>
            <a:ext cx="643433" cy="198983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00572" y="3083569"/>
            <a:ext cx="1503253" cy="209153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1162099" y="3771285"/>
            <a:ext cx="254000" cy="148590"/>
            <a:chOff x="1162099" y="3771285"/>
            <a:chExt cx="254000" cy="148590"/>
          </a:xfrm>
        </p:grpSpPr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2099" y="3771285"/>
              <a:ext cx="75058" cy="14818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2637" y="3771285"/>
              <a:ext cx="153263" cy="148580"/>
            </a:xfrm>
            <a:prstGeom prst="rect">
              <a:avLst/>
            </a:prstGeom>
          </p:spPr>
        </p:pic>
      </p:grpSp>
      <p:pic>
        <p:nvPicPr>
          <p:cNvPr id="23" name="object 2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92130" y="3771285"/>
            <a:ext cx="820102" cy="149026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381547" y="3761115"/>
            <a:ext cx="843488" cy="159196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291721" y="3768606"/>
            <a:ext cx="1015047" cy="154682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1162099" y="4252615"/>
            <a:ext cx="254000" cy="148590"/>
            <a:chOff x="1162099" y="4252615"/>
            <a:chExt cx="254000" cy="148590"/>
          </a:xfrm>
        </p:grpSpPr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2099" y="4252615"/>
              <a:ext cx="75058" cy="148183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65465" y="4252615"/>
              <a:ext cx="150435" cy="148580"/>
            </a:xfrm>
            <a:prstGeom prst="rect">
              <a:avLst/>
            </a:prstGeom>
          </p:spPr>
        </p:pic>
      </p:grpSp>
      <p:pic>
        <p:nvPicPr>
          <p:cNvPr id="29" name="object 2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92130" y="4242445"/>
            <a:ext cx="1480572" cy="209153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038346" y="4242445"/>
            <a:ext cx="598170" cy="159196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1162099" y="4927382"/>
            <a:ext cx="254000" cy="151765"/>
            <a:chOff x="1162099" y="4927382"/>
            <a:chExt cx="254000" cy="151765"/>
          </a:xfrm>
        </p:grpSpPr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2099" y="4930160"/>
              <a:ext cx="75058" cy="148183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64671" y="4927382"/>
              <a:ext cx="151229" cy="151358"/>
            </a:xfrm>
            <a:prstGeom prst="rect">
              <a:avLst/>
            </a:prstGeom>
          </p:spPr>
        </p:pic>
      </p:grpSp>
      <p:pic>
        <p:nvPicPr>
          <p:cNvPr id="34" name="object 3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89055" y="4919990"/>
            <a:ext cx="353774" cy="159196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912500" y="4930160"/>
            <a:ext cx="538470" cy="198983"/>
          </a:xfrm>
          <a:prstGeom prst="rect">
            <a:avLst/>
          </a:prstGeom>
        </p:spPr>
      </p:pic>
      <p:sp>
        <p:nvSpPr>
          <p:cNvPr id="36" name="object 36" descr=""/>
          <p:cNvSpPr txBox="1"/>
          <p:nvPr/>
        </p:nvSpPr>
        <p:spPr>
          <a:xfrm>
            <a:off x="1587500" y="866139"/>
            <a:ext cx="4956810" cy="4679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201795">
              <a:lnSpc>
                <a:spcPct val="117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Timestamp </a:t>
            </a:r>
            <a:r>
              <a:rPr dirty="0" sz="1100">
                <a:latin typeface="Cambria"/>
                <a:cs typeface="Cambria"/>
              </a:rPr>
              <a:t>IP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address </a:t>
            </a:r>
            <a:r>
              <a:rPr dirty="0" sz="1100" spc="-65">
                <a:latin typeface="Cambria"/>
                <a:cs typeface="Cambria"/>
              </a:rPr>
              <a:t>Device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details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Logs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need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shielded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manipulation.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Cambria"/>
              <a:cs typeface="Cambria"/>
            </a:endParaRPr>
          </a:p>
          <a:p>
            <a:pPr marL="12700" marR="2522220">
              <a:lnSpc>
                <a:spcPct val="117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API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traffic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HTTPS. </a:t>
            </a:r>
            <a:r>
              <a:rPr dirty="0" sz="1100" spc="-65">
                <a:latin typeface="Cambria"/>
                <a:cs typeface="Cambria"/>
              </a:rPr>
              <a:t>Completely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block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requests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not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TLS.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Cambria"/>
              <a:cs typeface="Cambria"/>
            </a:endParaRPr>
          </a:p>
          <a:p>
            <a:pPr marL="12700" marR="1117600">
              <a:lnSpc>
                <a:spcPct val="117000"/>
              </a:lnSpc>
            </a:pPr>
            <a:r>
              <a:rPr dirty="0" sz="1100" spc="-20">
                <a:latin typeface="Cambria"/>
                <a:cs typeface="Cambria"/>
              </a:rPr>
              <a:t>Verify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incoming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data,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including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fields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email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formats. </a:t>
            </a:r>
            <a:r>
              <a:rPr dirty="0" sz="1100" spc="-45">
                <a:latin typeface="Cambria"/>
                <a:cs typeface="Cambria"/>
              </a:rPr>
              <a:t>Prevent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injection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assaults.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0">
                <a:latin typeface="Cambria"/>
                <a:cs typeface="Cambria"/>
              </a:rPr>
              <a:t>Don't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provide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hints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attackers: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60">
                <a:latin typeface="Cambria"/>
                <a:cs typeface="Cambria"/>
              </a:rPr>
              <a:t>Instead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saying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5">
                <a:latin typeface="Cambria"/>
                <a:cs typeface="Cambria"/>
              </a:rPr>
              <a:t>"user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not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found"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"wrong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password,"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mention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"invalid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credentials."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287100"/>
              </a:lnSpc>
            </a:pPr>
            <a:r>
              <a:rPr dirty="0" sz="1100" spc="-25">
                <a:latin typeface="Cambria"/>
                <a:cs typeface="Cambria"/>
              </a:rPr>
              <a:t>Stop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hackers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API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activity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timing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identify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legitimate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usernames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emails. </a:t>
            </a: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every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attempt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distinct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(using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timestamp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once).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50">
                <a:latin typeface="Cambria"/>
                <a:cs typeface="Cambria"/>
              </a:rPr>
              <a:t>Session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tokens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OTPs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expire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rapidly.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Cambria"/>
              <a:cs typeface="Cambria"/>
            </a:endParaRPr>
          </a:p>
          <a:p>
            <a:pPr marL="12700" marR="518159">
              <a:lnSpc>
                <a:spcPct val="117000"/>
              </a:lnSpc>
              <a:spcBef>
                <a:spcPts val="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when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you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log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out,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tokens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revoked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tagged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inactive. </a:t>
            </a:r>
            <a:r>
              <a:rPr dirty="0" sz="1100" spc="-10">
                <a:latin typeface="Cambria"/>
                <a:cs typeface="Cambria"/>
              </a:rPr>
              <a:t>"Log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out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sessions"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supported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recovery.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41214" y="5597535"/>
            <a:ext cx="697805" cy="159196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05019" y="5597535"/>
            <a:ext cx="244514" cy="159196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219206" y="5607705"/>
            <a:ext cx="1050915" cy="198983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49207" y="5879077"/>
            <a:ext cx="3272088" cy="183008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486257" y="5879077"/>
            <a:ext cx="1778491" cy="183008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1358900" y="6054726"/>
            <a:ext cx="5284470" cy="100647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00" spc="-55">
                <a:latin typeface="Cambria"/>
                <a:cs typeface="Cambria"/>
              </a:rPr>
              <a:t>Two-</a:t>
            </a:r>
            <a:r>
              <a:rPr dirty="0" sz="1100" spc="-35">
                <a:latin typeface="Cambria"/>
                <a:cs typeface="Cambria"/>
              </a:rPr>
              <a:t>factor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(2FA)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being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added.</a:t>
            </a:r>
            <a:endParaRPr sz="1100">
              <a:latin typeface="Cambria"/>
              <a:cs typeface="Cambria"/>
            </a:endParaRPr>
          </a:p>
          <a:p>
            <a:pPr marL="241300" marR="5080" indent="-228600">
              <a:lnSpc>
                <a:spcPct val="117000"/>
              </a:lnSpc>
            </a:pPr>
            <a:r>
              <a:rPr dirty="0" sz="1100" spc="-60">
                <a:latin typeface="Cambria"/>
                <a:cs typeface="Cambria"/>
              </a:rPr>
              <a:t>Adding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biometric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login,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enforcing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complexity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restrictions,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enabling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OAuth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(Google, </a:t>
            </a:r>
            <a:r>
              <a:rPr dirty="0" sz="1100" spc="-75">
                <a:latin typeface="Cambria"/>
                <a:cs typeface="Cambria"/>
              </a:rPr>
              <a:t>Facebook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login),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implementing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CAPTCHA,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introducing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rate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limitation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account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lockout</a:t>
            </a:r>
            <a:endParaRPr sz="1100">
              <a:latin typeface="Cambria"/>
              <a:cs typeface="Cambria"/>
            </a:endParaRPr>
          </a:p>
          <a:p>
            <a:pPr marL="241300" marR="8255" indent="-228600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I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can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adjust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testing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approach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you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let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me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know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improvement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is.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Here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general </a:t>
            </a:r>
            <a:r>
              <a:rPr dirty="0" sz="1100" spc="-35">
                <a:latin typeface="Cambria"/>
                <a:cs typeface="Cambria"/>
              </a:rPr>
              <a:t>test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strategy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time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being: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43" name="object 43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51135" y="7120721"/>
            <a:ext cx="343525" cy="151755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558270" y="7123450"/>
            <a:ext cx="705137" cy="198983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329100" y="7113280"/>
            <a:ext cx="1435238" cy="209153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834010" y="7113280"/>
            <a:ext cx="1644967" cy="209153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549880" y="7123450"/>
            <a:ext cx="591006" cy="198983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230120" y="7399275"/>
            <a:ext cx="140635" cy="130007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438408" y="7390376"/>
            <a:ext cx="1699360" cy="183008"/>
          </a:xfrm>
          <a:prstGeom prst="rect">
            <a:avLst/>
          </a:prstGeom>
        </p:spPr>
      </p:pic>
      <p:sp>
        <p:nvSpPr>
          <p:cNvPr id="50" name="object 50" descr=""/>
          <p:cNvSpPr txBox="1"/>
          <p:nvPr/>
        </p:nvSpPr>
        <p:spPr>
          <a:xfrm>
            <a:off x="1358900" y="7566025"/>
            <a:ext cx="4502150" cy="153924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100" spc="-45">
                <a:latin typeface="Cambria"/>
                <a:cs typeface="Cambria"/>
              </a:rPr>
              <a:t>Logging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successfully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working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username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password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</a:pPr>
            <a:r>
              <a:rPr dirty="0" sz="1100" spc="-55">
                <a:latin typeface="Cambria"/>
                <a:cs typeface="Cambria"/>
              </a:rPr>
              <a:t>Reliable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credentials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recent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improvements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(e.g.,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biometrics,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CAPTCHA,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OTP) </a:t>
            </a:r>
            <a:r>
              <a:rPr dirty="0" sz="1100" spc="-65">
                <a:latin typeface="Cambria"/>
                <a:cs typeface="Cambria"/>
              </a:rPr>
              <a:t>Unauthorized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Attempts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Login</a:t>
            </a:r>
            <a:endParaRPr sz="1100">
              <a:latin typeface="Cambria"/>
              <a:cs typeface="Cambria"/>
            </a:endParaRPr>
          </a:p>
          <a:p>
            <a:pPr algn="just" marL="12700" marR="3419475">
              <a:lnSpc>
                <a:spcPct val="112900"/>
              </a:lnSpc>
            </a:pPr>
            <a:r>
              <a:rPr dirty="0" sz="1100" spc="-45">
                <a:latin typeface="Cambria"/>
                <a:cs typeface="Cambria"/>
              </a:rPr>
              <a:t>Incorrect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Incorrect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username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Blank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fields</a:t>
            </a:r>
            <a:endParaRPr sz="110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50">
                <a:latin typeface="Cambria"/>
                <a:cs typeface="Cambria"/>
              </a:rPr>
              <a:t>Check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case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sensitivity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8900" y="870584"/>
            <a:ext cx="3463925" cy="116078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100" spc="-55">
                <a:latin typeface="Cambria"/>
                <a:cs typeface="Cambria"/>
              </a:rPr>
              <a:t>Validation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New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Features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</a:pPr>
            <a:r>
              <a:rPr dirty="0" sz="1100" spc="-65">
                <a:latin typeface="Cambria"/>
                <a:cs typeface="Cambria"/>
              </a:rPr>
              <a:t>Does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upgrade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(such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CAPTCHA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2FA)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work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planned?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shouldn't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easy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disable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circumvent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it.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65">
                <a:latin typeface="Cambria"/>
                <a:cs typeface="Cambria"/>
              </a:rPr>
              <a:t>Management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Sessions</a:t>
            </a:r>
            <a:endParaRPr sz="1100">
              <a:latin typeface="Cambria"/>
              <a:cs typeface="Cambria"/>
            </a:endParaRPr>
          </a:p>
          <a:p>
            <a:pPr marL="12700" marR="944880">
              <a:lnSpc>
                <a:spcPct val="112900"/>
              </a:lnSpc>
            </a:pP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session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setup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securely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logging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in? </a:t>
            </a:r>
            <a:r>
              <a:rPr dirty="0" sz="1100" spc="-40">
                <a:latin typeface="Cambria"/>
                <a:cs typeface="Cambria"/>
              </a:rPr>
              <a:t>Do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sessions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end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when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should?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41214" y="2074554"/>
            <a:ext cx="5433060" cy="454659"/>
            <a:chOff x="1141214" y="2074554"/>
            <a:chExt cx="5433060" cy="454659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1214" y="2084724"/>
              <a:ext cx="166737" cy="14902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0118" y="2074554"/>
              <a:ext cx="5423874" cy="45439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358900" y="2521585"/>
            <a:ext cx="2636520" cy="78232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100" spc="-30">
                <a:latin typeface="Cambria"/>
                <a:cs typeface="Cambria"/>
              </a:rPr>
              <a:t>Older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procedures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still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functional.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</a:pP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forgotten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flow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still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operational.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"Remember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me"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option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acts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similarly.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logout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still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functions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properly.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148593" y="3354585"/>
            <a:ext cx="1761489" cy="403860"/>
            <a:chOff x="1148593" y="3354585"/>
            <a:chExt cx="1761489" cy="40386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0094" y="3357264"/>
              <a:ext cx="154047" cy="14858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593" y="3354585"/>
              <a:ext cx="1761244" cy="403593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2317" y="3992846"/>
            <a:ext cx="1294035" cy="14379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593" y="4371306"/>
            <a:ext cx="1556230" cy="12257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8593" y="4749766"/>
            <a:ext cx="1179426" cy="14379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8593" y="5128226"/>
            <a:ext cx="1067996" cy="14379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7877" y="5511802"/>
            <a:ext cx="582430" cy="104331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1214" y="6092209"/>
            <a:ext cx="171182" cy="14902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88625" y="6082039"/>
            <a:ext cx="893325" cy="209153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51037" y="6082039"/>
            <a:ext cx="706755" cy="209153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51135" y="7499867"/>
            <a:ext cx="144750" cy="154682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72115" y="7492376"/>
            <a:ext cx="826452" cy="162173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267882" y="7492376"/>
            <a:ext cx="1246901" cy="159196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358900" y="3764279"/>
            <a:ext cx="5190490" cy="4716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Cambria"/>
                <a:cs typeface="Cambria"/>
              </a:rPr>
              <a:t>Verify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whether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account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lockout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rate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limitation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effective.</a:t>
            </a:r>
            <a:endParaRPr sz="1100">
              <a:latin typeface="Cambria"/>
              <a:cs typeface="Cambria"/>
            </a:endParaRPr>
          </a:p>
          <a:p>
            <a:pPr marL="12700" marR="2694940">
              <a:lnSpc>
                <a:spcPct val="225800"/>
              </a:lnSpc>
            </a:pPr>
            <a:r>
              <a:rPr dirty="0" sz="1100">
                <a:latin typeface="Cambria"/>
                <a:cs typeface="Cambria"/>
              </a:rPr>
              <a:t>Try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adding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SQL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scripts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fields. Test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enforcement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HTTPS.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225800"/>
              </a:lnSpc>
            </a:pPr>
            <a:r>
              <a:rPr dirty="0" sz="1100" spc="-40">
                <a:latin typeface="Cambria"/>
                <a:cs typeface="Cambria"/>
              </a:rPr>
              <a:t>Do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new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rules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(such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minimum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length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special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characters)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get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enforced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system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now? </a:t>
            </a:r>
            <a:r>
              <a:rPr dirty="0" sz="1100" spc="-60">
                <a:latin typeface="Cambria"/>
                <a:cs typeface="Cambria"/>
              </a:rPr>
              <a:t>invalid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OTP,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expired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OTP,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OTP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resend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Cambria"/>
              <a:cs typeface="Cambria"/>
            </a:endParaRPr>
          </a:p>
          <a:p>
            <a:pPr marL="12700" marR="3086100">
              <a:lnSpc>
                <a:spcPct val="112900"/>
              </a:lnSpc>
            </a:pPr>
            <a:r>
              <a:rPr dirty="0" sz="1100" spc="-90">
                <a:latin typeface="Cambria"/>
                <a:cs typeface="Cambria"/>
              </a:rPr>
              <a:t>shown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following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X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unsuccessful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logins.</a:t>
            </a:r>
            <a:r>
              <a:rPr dirty="0" sz="1100" spc="-10">
                <a:latin typeface="Cambria"/>
                <a:cs typeface="Cambria"/>
              </a:rPr>
              <a:t> Can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bots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get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around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it?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0">
                <a:latin typeface="Cambria"/>
                <a:cs typeface="Cambria"/>
              </a:rPr>
              <a:t>Messages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Error</a:t>
            </a:r>
            <a:endParaRPr sz="1100">
              <a:latin typeface="Cambria"/>
              <a:cs typeface="Cambria"/>
            </a:endParaRPr>
          </a:p>
          <a:p>
            <a:pPr marL="12700" marR="2691765">
              <a:lnSpc>
                <a:spcPct val="112900"/>
              </a:lnSpc>
            </a:pPr>
            <a:r>
              <a:rPr dirty="0" sz="1100" spc="-60">
                <a:latin typeface="Cambria"/>
                <a:cs typeface="Cambria"/>
              </a:rPr>
              <a:t>Keep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simple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don't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give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away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much.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Adaptive/Mobile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Design</a:t>
            </a:r>
            <a:endParaRPr sz="1100">
              <a:latin typeface="Cambria"/>
              <a:cs typeface="Cambria"/>
            </a:endParaRPr>
          </a:p>
          <a:p>
            <a:pPr marL="12700" marR="2310765">
              <a:lnSpc>
                <a:spcPct val="112900"/>
              </a:lnSpc>
            </a:pPr>
            <a:r>
              <a:rPr dirty="0" sz="1100" spc="-65">
                <a:latin typeface="Cambria"/>
                <a:cs typeface="Cambria"/>
              </a:rPr>
              <a:t>Does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function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across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many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browsers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devices? </a:t>
            </a:r>
            <a:r>
              <a:rPr dirty="0" sz="1100" spc="-10">
                <a:latin typeface="Cambria"/>
                <a:cs typeface="Cambria"/>
              </a:rPr>
              <a:t>Accessibility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compatible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keyboard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navigation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screen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readers?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60">
                <a:latin typeface="Cambria"/>
                <a:cs typeface="Cambria"/>
              </a:rPr>
              <a:t>Loading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Login</a:t>
            </a:r>
            <a:endParaRPr sz="1100">
              <a:latin typeface="Cambria"/>
              <a:cs typeface="Cambria"/>
            </a:endParaRPr>
          </a:p>
          <a:p>
            <a:pPr marL="12700" marR="1995170">
              <a:lnSpc>
                <a:spcPct val="112900"/>
              </a:lnSpc>
            </a:pPr>
            <a:r>
              <a:rPr dirty="0" sz="1100" spc="-30">
                <a:latin typeface="Cambria"/>
                <a:cs typeface="Cambria"/>
              </a:rPr>
              <a:t>Create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illusion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multiple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concurrent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logging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in. </a:t>
            </a:r>
            <a:r>
              <a:rPr dirty="0" sz="1100" spc="-30">
                <a:latin typeface="Cambria"/>
                <a:cs typeface="Cambria"/>
              </a:rPr>
              <a:t>System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Action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100" spc="-55">
                <a:latin typeface="Cambria"/>
                <a:cs typeface="Cambria"/>
              </a:rPr>
              <a:t>How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does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system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respond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load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similar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DDoS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attack?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162099" y="8730636"/>
            <a:ext cx="137795" cy="148590"/>
            <a:chOff x="1162099" y="8730636"/>
            <a:chExt cx="137795" cy="148590"/>
          </a:xfrm>
        </p:grpSpPr>
        <p:pic>
          <p:nvPicPr>
            <p:cNvPr id="23" name="object 2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62099" y="8730636"/>
              <a:ext cx="75058" cy="148183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266309" y="8845829"/>
              <a:ext cx="33655" cy="33655"/>
            </a:xfrm>
            <a:custGeom>
              <a:avLst/>
              <a:gdLst/>
              <a:ahLst/>
              <a:cxnLst/>
              <a:rect l="l" t="t" r="r" b="b"/>
              <a:pathLst>
                <a:path w="33655" h="33654">
                  <a:moveTo>
                    <a:pt x="21232" y="33387"/>
                  </a:moveTo>
                  <a:lnTo>
                    <a:pt x="12104" y="33387"/>
                  </a:lnTo>
                  <a:lnTo>
                    <a:pt x="8185" y="31750"/>
                  </a:lnTo>
                  <a:lnTo>
                    <a:pt x="4911" y="28475"/>
                  </a:lnTo>
                  <a:lnTo>
                    <a:pt x="1637" y="25168"/>
                  </a:lnTo>
                  <a:lnTo>
                    <a:pt x="0" y="21249"/>
                  </a:lnTo>
                  <a:lnTo>
                    <a:pt x="0" y="12154"/>
                  </a:lnTo>
                  <a:lnTo>
                    <a:pt x="1637" y="8235"/>
                  </a:lnTo>
                  <a:lnTo>
                    <a:pt x="4911" y="4960"/>
                  </a:lnTo>
                  <a:lnTo>
                    <a:pt x="8185" y="1653"/>
                  </a:lnTo>
                  <a:lnTo>
                    <a:pt x="12104" y="0"/>
                  </a:lnTo>
                  <a:lnTo>
                    <a:pt x="21232" y="0"/>
                  </a:lnTo>
                  <a:lnTo>
                    <a:pt x="25151" y="1653"/>
                  </a:lnTo>
                  <a:lnTo>
                    <a:pt x="28426" y="4960"/>
                  </a:lnTo>
                  <a:lnTo>
                    <a:pt x="31733" y="8235"/>
                  </a:lnTo>
                  <a:lnTo>
                    <a:pt x="33387" y="12154"/>
                  </a:lnTo>
                  <a:lnTo>
                    <a:pt x="33387" y="21249"/>
                  </a:lnTo>
                  <a:lnTo>
                    <a:pt x="31733" y="25168"/>
                  </a:lnTo>
                  <a:lnTo>
                    <a:pt x="25151" y="31750"/>
                  </a:lnTo>
                  <a:lnTo>
                    <a:pt x="21232" y="33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76560" y="8720466"/>
            <a:ext cx="531246" cy="209153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83620" y="8720466"/>
            <a:ext cx="724197" cy="164851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1358900" y="8948422"/>
            <a:ext cx="23012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Static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websites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(such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Vue,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React,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etc.)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8900" y="870584"/>
            <a:ext cx="295910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900"/>
              </a:lnSpc>
              <a:spcBef>
                <a:spcPts val="100"/>
              </a:spcBef>
            </a:pPr>
            <a:r>
              <a:rPr dirty="0" sz="1100" spc="-70">
                <a:latin typeface="Cambria"/>
                <a:cs typeface="Cambria"/>
              </a:rPr>
              <a:t>Applications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Auth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services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(Auth0,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Firebase) </a:t>
            </a:r>
            <a:r>
              <a:rPr dirty="0" sz="1100" spc="-45">
                <a:latin typeface="Cambria"/>
                <a:cs typeface="Cambria"/>
              </a:rPr>
              <a:t>Simple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serverless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features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(like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APIs)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877" y="1314061"/>
            <a:ext cx="1873152" cy="38036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2788" y="1929096"/>
            <a:ext cx="965694" cy="14379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8593" y="2307556"/>
            <a:ext cx="1320620" cy="14379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8593" y="2686016"/>
            <a:ext cx="1191740" cy="10944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7877" y="3064476"/>
            <a:ext cx="1873946" cy="14379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593" y="3442936"/>
            <a:ext cx="1704571" cy="11149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1772" y="3821396"/>
            <a:ext cx="375109" cy="14379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51135" y="4211964"/>
            <a:ext cx="709592" cy="20915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8860" y="4885936"/>
            <a:ext cx="651650" cy="14177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75618" y="4885936"/>
            <a:ext cx="633434" cy="14424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358900" y="1700530"/>
            <a:ext cx="4689475" cy="3958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framework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Vue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React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build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website.</a:t>
            </a:r>
            <a:endParaRPr sz="1100">
              <a:latin typeface="Cambria"/>
              <a:cs typeface="Cambria"/>
            </a:endParaRPr>
          </a:p>
          <a:p>
            <a:pPr marL="12700" marR="2322195">
              <a:lnSpc>
                <a:spcPct val="225800"/>
              </a:lnSpc>
            </a:pPr>
            <a:r>
              <a:rPr dirty="0" sz="1100">
                <a:latin typeface="Cambria"/>
                <a:cs typeface="Cambria"/>
              </a:rPr>
              <a:t>Put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code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into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repository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GitHub.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log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in,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GitHub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account.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5">
                <a:latin typeface="Cambria"/>
                <a:cs typeface="Cambria"/>
              </a:rPr>
              <a:t>Open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GitHub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repository.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5">
                <a:latin typeface="Cambria"/>
                <a:cs typeface="Cambria"/>
              </a:rPr>
              <a:t>Build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command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npm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run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build,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directory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dist,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build,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instance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225800"/>
              </a:lnSpc>
            </a:pPr>
            <a:r>
              <a:rPr dirty="0" sz="1100" spc="-65">
                <a:latin typeface="Cambria"/>
                <a:cs typeface="Cambria"/>
              </a:rPr>
              <a:t>Include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API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keys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secrets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(such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JWT_SECRET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AUTH_API_URL). </a:t>
            </a:r>
            <a:r>
              <a:rPr dirty="0" sz="1100" spc="-30">
                <a:latin typeface="Cambria"/>
                <a:cs typeface="Cambria"/>
              </a:rPr>
              <a:t>Select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"Deploy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Site."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100">
              <a:latin typeface="Cambria"/>
              <a:cs typeface="Cambria"/>
            </a:endParaRPr>
          </a:p>
          <a:p>
            <a:pPr marL="12700" marR="1295400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backend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registration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logic,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add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Netlify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Functions.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Add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HTTPS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custom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domain.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0">
                <a:latin typeface="Cambria"/>
                <a:cs typeface="Cambria"/>
              </a:rPr>
              <a:t>Next.js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applications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10">
                <a:latin typeface="Cambria"/>
                <a:cs typeface="Cambria"/>
              </a:rPr>
              <a:t>Use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serverless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APIs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respond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50">
                <a:latin typeface="Cambria"/>
                <a:cs typeface="Cambria"/>
              </a:rPr>
              <a:t>Integrated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(NextAuth.js,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example)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51135" y="5702309"/>
            <a:ext cx="1934663" cy="41108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48593" y="6348061"/>
            <a:ext cx="1460955" cy="14379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7877" y="6726521"/>
            <a:ext cx="1319432" cy="143792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41772" y="7294212"/>
            <a:ext cx="375109" cy="14379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50118" y="7676761"/>
            <a:ext cx="621369" cy="183008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358900" y="6119494"/>
            <a:ext cx="4714240" cy="213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mbria"/>
                <a:cs typeface="Cambria"/>
              </a:rPr>
              <a:t>Sign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Vercel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Cambria"/>
                <a:cs typeface="Cambria"/>
              </a:rPr>
              <a:t>Bring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Project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0">
                <a:latin typeface="Cambria"/>
                <a:cs typeface="Cambria"/>
              </a:rPr>
              <a:t>Configure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Environment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Variables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60">
                <a:latin typeface="Cambria"/>
                <a:cs typeface="Cambria"/>
              </a:rPr>
              <a:t>Add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variables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NEXTAUTH_SECRET,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DATABASE_URL,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so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forth.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hosted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auto-</a:t>
            </a:r>
            <a:r>
              <a:rPr dirty="0" sz="1100" spc="-45">
                <a:latin typeface="Cambria"/>
                <a:cs typeface="Cambria"/>
              </a:rPr>
              <a:t>built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Vercel.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APIs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require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login,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logout,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registration,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Vercel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Serverless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Functions. </a:t>
            </a:r>
            <a:r>
              <a:rPr dirty="0" sz="1100" spc="-30">
                <a:latin typeface="Cambria"/>
                <a:cs typeface="Cambria"/>
              </a:rPr>
              <a:t>Turn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monitoring,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analytics,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preview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deployments.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47067" y="8314074"/>
            <a:ext cx="152628" cy="14858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75519" y="8303904"/>
            <a:ext cx="1306591" cy="159196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2753474" y="8313686"/>
            <a:ext cx="519430" cy="149860"/>
          </a:xfrm>
          <a:custGeom>
            <a:avLst/>
            <a:gdLst/>
            <a:ahLst/>
            <a:cxnLst/>
            <a:rect l="l" t="t" r="r" b="b"/>
            <a:pathLst>
              <a:path w="519429" h="149859">
                <a:moveTo>
                  <a:pt x="81953" y="3022"/>
                </a:moveTo>
                <a:lnTo>
                  <a:pt x="77749" y="0"/>
                </a:lnTo>
                <a:lnTo>
                  <a:pt x="60985" y="0"/>
                </a:lnTo>
                <a:lnTo>
                  <a:pt x="32537" y="17907"/>
                </a:lnTo>
                <a:lnTo>
                  <a:pt x="38938" y="17907"/>
                </a:lnTo>
                <a:lnTo>
                  <a:pt x="41922" y="17272"/>
                </a:lnTo>
                <a:lnTo>
                  <a:pt x="42443" y="17145"/>
                </a:lnTo>
                <a:lnTo>
                  <a:pt x="42367" y="17780"/>
                </a:lnTo>
                <a:lnTo>
                  <a:pt x="42252" y="17907"/>
                </a:lnTo>
                <a:lnTo>
                  <a:pt x="40881" y="19481"/>
                </a:lnTo>
                <a:lnTo>
                  <a:pt x="37998" y="22415"/>
                </a:lnTo>
                <a:lnTo>
                  <a:pt x="9080" y="60566"/>
                </a:lnTo>
                <a:lnTo>
                  <a:pt x="0" y="94754"/>
                </a:lnTo>
                <a:lnTo>
                  <a:pt x="419" y="102590"/>
                </a:lnTo>
                <a:lnTo>
                  <a:pt x="16611" y="137363"/>
                </a:lnTo>
                <a:lnTo>
                  <a:pt x="36995" y="148971"/>
                </a:lnTo>
                <a:lnTo>
                  <a:pt x="44399" y="148971"/>
                </a:lnTo>
                <a:lnTo>
                  <a:pt x="53238" y="147942"/>
                </a:lnTo>
                <a:lnTo>
                  <a:pt x="60032" y="144868"/>
                </a:lnTo>
                <a:lnTo>
                  <a:pt x="64820" y="139738"/>
                </a:lnTo>
                <a:lnTo>
                  <a:pt x="67564" y="132549"/>
                </a:lnTo>
                <a:lnTo>
                  <a:pt x="69646" y="128384"/>
                </a:lnTo>
                <a:lnTo>
                  <a:pt x="69761" y="128155"/>
                </a:lnTo>
                <a:lnTo>
                  <a:pt x="70002" y="127685"/>
                </a:lnTo>
                <a:lnTo>
                  <a:pt x="65163" y="128155"/>
                </a:lnTo>
                <a:lnTo>
                  <a:pt x="62395" y="128384"/>
                </a:lnTo>
                <a:lnTo>
                  <a:pt x="57061" y="128384"/>
                </a:lnTo>
                <a:lnTo>
                  <a:pt x="31356" y="102590"/>
                </a:lnTo>
                <a:lnTo>
                  <a:pt x="31356" y="93268"/>
                </a:lnTo>
                <a:lnTo>
                  <a:pt x="46710" y="56908"/>
                </a:lnTo>
                <a:lnTo>
                  <a:pt x="68707" y="31153"/>
                </a:lnTo>
                <a:lnTo>
                  <a:pt x="73431" y="25958"/>
                </a:lnTo>
                <a:lnTo>
                  <a:pt x="79057" y="19075"/>
                </a:lnTo>
                <a:lnTo>
                  <a:pt x="80175" y="16967"/>
                </a:lnTo>
                <a:lnTo>
                  <a:pt x="80962" y="15481"/>
                </a:lnTo>
                <a:lnTo>
                  <a:pt x="81953" y="11709"/>
                </a:lnTo>
                <a:lnTo>
                  <a:pt x="81953" y="3022"/>
                </a:lnTo>
                <a:close/>
              </a:path>
              <a:path w="519429" h="149859">
                <a:moveTo>
                  <a:pt x="206502" y="129032"/>
                </a:moveTo>
                <a:lnTo>
                  <a:pt x="201891" y="129032"/>
                </a:lnTo>
                <a:lnTo>
                  <a:pt x="199974" y="128828"/>
                </a:lnTo>
                <a:lnTo>
                  <a:pt x="191528" y="111125"/>
                </a:lnTo>
                <a:lnTo>
                  <a:pt x="188264" y="94373"/>
                </a:lnTo>
                <a:lnTo>
                  <a:pt x="180797" y="51295"/>
                </a:lnTo>
                <a:lnTo>
                  <a:pt x="175831" y="17703"/>
                </a:lnTo>
                <a:lnTo>
                  <a:pt x="175475" y="15074"/>
                </a:lnTo>
                <a:lnTo>
                  <a:pt x="173291" y="9042"/>
                </a:lnTo>
                <a:lnTo>
                  <a:pt x="173177" y="8915"/>
                </a:lnTo>
                <a:lnTo>
                  <a:pt x="166878" y="2133"/>
                </a:lnTo>
                <a:lnTo>
                  <a:pt x="162699" y="393"/>
                </a:lnTo>
                <a:lnTo>
                  <a:pt x="156197" y="393"/>
                </a:lnTo>
                <a:lnTo>
                  <a:pt x="156197" y="91630"/>
                </a:lnTo>
                <a:lnTo>
                  <a:pt x="127127" y="91630"/>
                </a:lnTo>
                <a:lnTo>
                  <a:pt x="129501" y="87058"/>
                </a:lnTo>
                <a:lnTo>
                  <a:pt x="133413" y="79984"/>
                </a:lnTo>
                <a:lnTo>
                  <a:pt x="138557" y="70916"/>
                </a:lnTo>
                <a:lnTo>
                  <a:pt x="145237" y="59334"/>
                </a:lnTo>
                <a:lnTo>
                  <a:pt x="149796" y="51295"/>
                </a:lnTo>
                <a:lnTo>
                  <a:pt x="150977" y="59334"/>
                </a:lnTo>
                <a:lnTo>
                  <a:pt x="152247" y="67500"/>
                </a:lnTo>
                <a:lnTo>
                  <a:pt x="154025" y="78574"/>
                </a:lnTo>
                <a:lnTo>
                  <a:pt x="156197" y="91630"/>
                </a:lnTo>
                <a:lnTo>
                  <a:pt x="156197" y="393"/>
                </a:lnTo>
                <a:lnTo>
                  <a:pt x="152412" y="393"/>
                </a:lnTo>
                <a:lnTo>
                  <a:pt x="147701" y="1485"/>
                </a:lnTo>
                <a:lnTo>
                  <a:pt x="139103" y="5854"/>
                </a:lnTo>
                <a:lnTo>
                  <a:pt x="135597" y="8915"/>
                </a:lnTo>
                <a:lnTo>
                  <a:pt x="135509" y="9042"/>
                </a:lnTo>
                <a:lnTo>
                  <a:pt x="132880" y="12852"/>
                </a:lnTo>
                <a:lnTo>
                  <a:pt x="127673" y="20193"/>
                </a:lnTo>
                <a:lnTo>
                  <a:pt x="137782" y="17703"/>
                </a:lnTo>
                <a:lnTo>
                  <a:pt x="138277" y="17703"/>
                </a:lnTo>
                <a:lnTo>
                  <a:pt x="138442" y="18288"/>
                </a:lnTo>
                <a:lnTo>
                  <a:pt x="138442" y="19443"/>
                </a:lnTo>
                <a:lnTo>
                  <a:pt x="119646" y="59093"/>
                </a:lnTo>
                <a:lnTo>
                  <a:pt x="99644" y="92024"/>
                </a:lnTo>
                <a:lnTo>
                  <a:pt x="92608" y="104241"/>
                </a:lnTo>
                <a:lnTo>
                  <a:pt x="87591" y="114731"/>
                </a:lnTo>
                <a:lnTo>
                  <a:pt x="84569" y="123507"/>
                </a:lnTo>
                <a:lnTo>
                  <a:pt x="83566" y="130568"/>
                </a:lnTo>
                <a:lnTo>
                  <a:pt x="83566" y="142836"/>
                </a:lnTo>
                <a:lnTo>
                  <a:pt x="89306" y="148971"/>
                </a:lnTo>
                <a:lnTo>
                  <a:pt x="106476" y="148971"/>
                </a:lnTo>
                <a:lnTo>
                  <a:pt x="113639" y="146380"/>
                </a:lnTo>
                <a:lnTo>
                  <a:pt x="122262" y="141185"/>
                </a:lnTo>
                <a:lnTo>
                  <a:pt x="118694" y="138061"/>
                </a:lnTo>
                <a:lnTo>
                  <a:pt x="115785" y="135775"/>
                </a:lnTo>
                <a:lnTo>
                  <a:pt x="114325" y="132422"/>
                </a:lnTo>
                <a:lnTo>
                  <a:pt x="114338" y="123507"/>
                </a:lnTo>
                <a:lnTo>
                  <a:pt x="115138" y="117932"/>
                </a:lnTo>
                <a:lnTo>
                  <a:pt x="116763" y="111125"/>
                </a:lnTo>
                <a:lnTo>
                  <a:pt x="116763" y="112115"/>
                </a:lnTo>
                <a:lnTo>
                  <a:pt x="117386" y="112610"/>
                </a:lnTo>
                <a:lnTo>
                  <a:pt x="159575" y="112610"/>
                </a:lnTo>
                <a:lnTo>
                  <a:pt x="160007" y="115290"/>
                </a:lnTo>
                <a:lnTo>
                  <a:pt x="160947" y="120370"/>
                </a:lnTo>
                <a:lnTo>
                  <a:pt x="176517" y="148971"/>
                </a:lnTo>
                <a:lnTo>
                  <a:pt x="181851" y="148971"/>
                </a:lnTo>
                <a:lnTo>
                  <a:pt x="188836" y="148031"/>
                </a:lnTo>
                <a:lnTo>
                  <a:pt x="195008" y="145173"/>
                </a:lnTo>
                <a:lnTo>
                  <a:pt x="200367" y="140436"/>
                </a:lnTo>
                <a:lnTo>
                  <a:pt x="204914" y="133794"/>
                </a:lnTo>
                <a:lnTo>
                  <a:pt x="206502" y="129032"/>
                </a:lnTo>
                <a:close/>
              </a:path>
              <a:path w="519429" h="149859">
                <a:moveTo>
                  <a:pt x="405930" y="13246"/>
                </a:moveTo>
                <a:lnTo>
                  <a:pt x="404279" y="8623"/>
                </a:lnTo>
                <a:lnTo>
                  <a:pt x="400977" y="5359"/>
                </a:lnTo>
                <a:lnTo>
                  <a:pt x="397700" y="2044"/>
                </a:lnTo>
                <a:lnTo>
                  <a:pt x="393611" y="393"/>
                </a:lnTo>
                <a:lnTo>
                  <a:pt x="388721" y="393"/>
                </a:lnTo>
                <a:lnTo>
                  <a:pt x="356870" y="25996"/>
                </a:lnTo>
                <a:lnTo>
                  <a:pt x="364807" y="24142"/>
                </a:lnTo>
                <a:lnTo>
                  <a:pt x="368858" y="23215"/>
                </a:lnTo>
                <a:lnTo>
                  <a:pt x="370141" y="23215"/>
                </a:lnTo>
                <a:lnTo>
                  <a:pt x="370713" y="24384"/>
                </a:lnTo>
                <a:lnTo>
                  <a:pt x="370713" y="28321"/>
                </a:lnTo>
                <a:lnTo>
                  <a:pt x="370459" y="30556"/>
                </a:lnTo>
                <a:lnTo>
                  <a:pt x="351078" y="84607"/>
                </a:lnTo>
                <a:lnTo>
                  <a:pt x="341591" y="103035"/>
                </a:lnTo>
                <a:lnTo>
                  <a:pt x="341007" y="95021"/>
                </a:lnTo>
                <a:lnTo>
                  <a:pt x="339940" y="85229"/>
                </a:lnTo>
                <a:lnTo>
                  <a:pt x="334187" y="47078"/>
                </a:lnTo>
                <a:lnTo>
                  <a:pt x="323138" y="7302"/>
                </a:lnTo>
                <a:lnTo>
                  <a:pt x="320357" y="4559"/>
                </a:lnTo>
                <a:lnTo>
                  <a:pt x="317576" y="1778"/>
                </a:lnTo>
                <a:lnTo>
                  <a:pt x="314020" y="393"/>
                </a:lnTo>
                <a:lnTo>
                  <a:pt x="309689" y="393"/>
                </a:lnTo>
                <a:lnTo>
                  <a:pt x="284289" y="19202"/>
                </a:lnTo>
                <a:lnTo>
                  <a:pt x="288213" y="20485"/>
                </a:lnTo>
                <a:lnTo>
                  <a:pt x="289699" y="20751"/>
                </a:lnTo>
                <a:lnTo>
                  <a:pt x="290436" y="24701"/>
                </a:lnTo>
                <a:lnTo>
                  <a:pt x="290436" y="32346"/>
                </a:lnTo>
                <a:lnTo>
                  <a:pt x="289991" y="38849"/>
                </a:lnTo>
                <a:lnTo>
                  <a:pt x="279895" y="79235"/>
                </a:lnTo>
                <a:lnTo>
                  <a:pt x="271386" y="101942"/>
                </a:lnTo>
                <a:lnTo>
                  <a:pt x="270713" y="94208"/>
                </a:lnTo>
                <a:lnTo>
                  <a:pt x="269481" y="84582"/>
                </a:lnTo>
                <a:lnTo>
                  <a:pt x="262788" y="46431"/>
                </a:lnTo>
                <a:lnTo>
                  <a:pt x="249961" y="7175"/>
                </a:lnTo>
                <a:lnTo>
                  <a:pt x="246989" y="4457"/>
                </a:lnTo>
                <a:lnTo>
                  <a:pt x="244043" y="1752"/>
                </a:lnTo>
                <a:lnTo>
                  <a:pt x="240284" y="393"/>
                </a:lnTo>
                <a:lnTo>
                  <a:pt x="235724" y="393"/>
                </a:lnTo>
                <a:lnTo>
                  <a:pt x="205308" y="27089"/>
                </a:lnTo>
                <a:lnTo>
                  <a:pt x="214363" y="23812"/>
                </a:lnTo>
                <a:lnTo>
                  <a:pt x="216306" y="23812"/>
                </a:lnTo>
                <a:lnTo>
                  <a:pt x="231838" y="68770"/>
                </a:lnTo>
                <a:lnTo>
                  <a:pt x="238023" y="112217"/>
                </a:lnTo>
                <a:lnTo>
                  <a:pt x="239242" y="143764"/>
                </a:lnTo>
                <a:lnTo>
                  <a:pt x="239242" y="146100"/>
                </a:lnTo>
                <a:lnTo>
                  <a:pt x="245630" y="148310"/>
                </a:lnTo>
                <a:lnTo>
                  <a:pt x="250736" y="149415"/>
                </a:lnTo>
                <a:lnTo>
                  <a:pt x="258406" y="149415"/>
                </a:lnTo>
                <a:lnTo>
                  <a:pt x="287629" y="117690"/>
                </a:lnTo>
                <a:lnTo>
                  <a:pt x="304876" y="75946"/>
                </a:lnTo>
                <a:lnTo>
                  <a:pt x="306832" y="89115"/>
                </a:lnTo>
                <a:lnTo>
                  <a:pt x="308229" y="104813"/>
                </a:lnTo>
                <a:lnTo>
                  <a:pt x="309067" y="123024"/>
                </a:lnTo>
                <a:lnTo>
                  <a:pt x="309346" y="143764"/>
                </a:lnTo>
                <a:lnTo>
                  <a:pt x="309346" y="146100"/>
                </a:lnTo>
                <a:lnTo>
                  <a:pt x="315760" y="148310"/>
                </a:lnTo>
                <a:lnTo>
                  <a:pt x="320751" y="149415"/>
                </a:lnTo>
                <a:lnTo>
                  <a:pt x="324319" y="149415"/>
                </a:lnTo>
                <a:lnTo>
                  <a:pt x="360006" y="115328"/>
                </a:lnTo>
                <a:lnTo>
                  <a:pt x="381266" y="80086"/>
                </a:lnTo>
                <a:lnTo>
                  <a:pt x="401815" y="37528"/>
                </a:lnTo>
                <a:lnTo>
                  <a:pt x="405930" y="19202"/>
                </a:lnTo>
                <a:lnTo>
                  <a:pt x="405930" y="13246"/>
                </a:lnTo>
                <a:close/>
              </a:path>
              <a:path w="519429" h="149859">
                <a:moveTo>
                  <a:pt x="519010" y="33235"/>
                </a:moveTo>
                <a:lnTo>
                  <a:pt x="494131" y="2501"/>
                </a:lnTo>
                <a:lnTo>
                  <a:pt x="477939" y="393"/>
                </a:lnTo>
                <a:lnTo>
                  <a:pt x="469303" y="876"/>
                </a:lnTo>
                <a:lnTo>
                  <a:pt x="433387" y="16903"/>
                </a:lnTo>
                <a:lnTo>
                  <a:pt x="415531" y="42748"/>
                </a:lnTo>
                <a:lnTo>
                  <a:pt x="415531" y="56934"/>
                </a:lnTo>
                <a:lnTo>
                  <a:pt x="445985" y="84353"/>
                </a:lnTo>
                <a:lnTo>
                  <a:pt x="460870" y="90170"/>
                </a:lnTo>
                <a:lnTo>
                  <a:pt x="466496" y="92621"/>
                </a:lnTo>
                <a:lnTo>
                  <a:pt x="474103" y="96583"/>
                </a:lnTo>
                <a:lnTo>
                  <a:pt x="477151" y="98831"/>
                </a:lnTo>
                <a:lnTo>
                  <a:pt x="479475" y="101346"/>
                </a:lnTo>
                <a:lnTo>
                  <a:pt x="481825" y="103860"/>
                </a:lnTo>
                <a:lnTo>
                  <a:pt x="482993" y="106591"/>
                </a:lnTo>
                <a:lnTo>
                  <a:pt x="482993" y="112445"/>
                </a:lnTo>
                <a:lnTo>
                  <a:pt x="482092" y="115354"/>
                </a:lnTo>
                <a:lnTo>
                  <a:pt x="480263" y="118262"/>
                </a:lnTo>
                <a:lnTo>
                  <a:pt x="478485" y="121170"/>
                </a:lnTo>
                <a:lnTo>
                  <a:pt x="475767" y="123596"/>
                </a:lnTo>
                <a:lnTo>
                  <a:pt x="472135" y="125514"/>
                </a:lnTo>
                <a:lnTo>
                  <a:pt x="468528" y="127431"/>
                </a:lnTo>
                <a:lnTo>
                  <a:pt x="464261" y="128384"/>
                </a:lnTo>
                <a:lnTo>
                  <a:pt x="451561" y="128384"/>
                </a:lnTo>
                <a:lnTo>
                  <a:pt x="445871" y="126771"/>
                </a:lnTo>
                <a:lnTo>
                  <a:pt x="442264" y="123520"/>
                </a:lnTo>
                <a:lnTo>
                  <a:pt x="438696" y="120281"/>
                </a:lnTo>
                <a:lnTo>
                  <a:pt x="436905" y="116332"/>
                </a:lnTo>
                <a:lnTo>
                  <a:pt x="436905" y="109448"/>
                </a:lnTo>
                <a:lnTo>
                  <a:pt x="437235" y="107886"/>
                </a:lnTo>
                <a:lnTo>
                  <a:pt x="438594" y="105994"/>
                </a:lnTo>
                <a:lnTo>
                  <a:pt x="439305" y="105511"/>
                </a:lnTo>
                <a:lnTo>
                  <a:pt x="440766" y="105511"/>
                </a:lnTo>
                <a:lnTo>
                  <a:pt x="443941" y="106146"/>
                </a:lnTo>
                <a:lnTo>
                  <a:pt x="449554" y="107403"/>
                </a:lnTo>
                <a:lnTo>
                  <a:pt x="446379" y="101003"/>
                </a:lnTo>
                <a:lnTo>
                  <a:pt x="441782" y="93878"/>
                </a:lnTo>
                <a:lnTo>
                  <a:pt x="436333" y="88798"/>
                </a:lnTo>
                <a:lnTo>
                  <a:pt x="430072" y="85750"/>
                </a:lnTo>
                <a:lnTo>
                  <a:pt x="422973" y="84734"/>
                </a:lnTo>
                <a:lnTo>
                  <a:pt x="417347" y="84734"/>
                </a:lnTo>
                <a:lnTo>
                  <a:pt x="412737" y="86817"/>
                </a:lnTo>
                <a:lnTo>
                  <a:pt x="409130" y="90982"/>
                </a:lnTo>
                <a:lnTo>
                  <a:pt x="405523" y="95110"/>
                </a:lnTo>
                <a:lnTo>
                  <a:pt x="403720" y="100787"/>
                </a:lnTo>
                <a:lnTo>
                  <a:pt x="403720" y="115176"/>
                </a:lnTo>
                <a:lnTo>
                  <a:pt x="431355" y="143865"/>
                </a:lnTo>
                <a:lnTo>
                  <a:pt x="459727" y="149415"/>
                </a:lnTo>
                <a:lnTo>
                  <a:pt x="467194" y="149072"/>
                </a:lnTo>
                <a:lnTo>
                  <a:pt x="504075" y="132880"/>
                </a:lnTo>
                <a:lnTo>
                  <a:pt x="516178" y="113449"/>
                </a:lnTo>
                <a:lnTo>
                  <a:pt x="516178" y="96393"/>
                </a:lnTo>
                <a:lnTo>
                  <a:pt x="513969" y="89344"/>
                </a:lnTo>
                <a:lnTo>
                  <a:pt x="509536" y="83781"/>
                </a:lnTo>
                <a:lnTo>
                  <a:pt x="505142" y="78193"/>
                </a:lnTo>
                <a:lnTo>
                  <a:pt x="463791" y="57645"/>
                </a:lnTo>
                <a:lnTo>
                  <a:pt x="457708" y="54876"/>
                </a:lnTo>
                <a:lnTo>
                  <a:pt x="454177" y="52730"/>
                </a:lnTo>
                <a:lnTo>
                  <a:pt x="450672" y="50546"/>
                </a:lnTo>
                <a:lnTo>
                  <a:pt x="448919" y="48234"/>
                </a:lnTo>
                <a:lnTo>
                  <a:pt x="448919" y="43307"/>
                </a:lnTo>
                <a:lnTo>
                  <a:pt x="469315" y="24853"/>
                </a:lnTo>
                <a:lnTo>
                  <a:pt x="478116" y="24853"/>
                </a:lnTo>
                <a:lnTo>
                  <a:pt x="481228" y="25527"/>
                </a:lnTo>
                <a:lnTo>
                  <a:pt x="483044" y="26885"/>
                </a:lnTo>
                <a:lnTo>
                  <a:pt x="484898" y="28206"/>
                </a:lnTo>
                <a:lnTo>
                  <a:pt x="485825" y="29933"/>
                </a:lnTo>
                <a:lnTo>
                  <a:pt x="485825" y="34163"/>
                </a:lnTo>
                <a:lnTo>
                  <a:pt x="485305" y="35864"/>
                </a:lnTo>
                <a:lnTo>
                  <a:pt x="484289" y="37160"/>
                </a:lnTo>
                <a:lnTo>
                  <a:pt x="483298" y="38442"/>
                </a:lnTo>
                <a:lnTo>
                  <a:pt x="482117" y="39128"/>
                </a:lnTo>
                <a:lnTo>
                  <a:pt x="480758" y="39192"/>
                </a:lnTo>
                <a:lnTo>
                  <a:pt x="473278" y="39192"/>
                </a:lnTo>
                <a:lnTo>
                  <a:pt x="478485" y="44843"/>
                </a:lnTo>
                <a:lnTo>
                  <a:pt x="484505" y="51295"/>
                </a:lnTo>
                <a:lnTo>
                  <a:pt x="491591" y="54521"/>
                </a:lnTo>
                <a:lnTo>
                  <a:pt x="505942" y="54521"/>
                </a:lnTo>
                <a:lnTo>
                  <a:pt x="510692" y="52654"/>
                </a:lnTo>
                <a:lnTo>
                  <a:pt x="514007" y="48907"/>
                </a:lnTo>
                <a:lnTo>
                  <a:pt x="517347" y="45173"/>
                </a:lnTo>
                <a:lnTo>
                  <a:pt x="519010" y="39954"/>
                </a:lnTo>
                <a:lnTo>
                  <a:pt x="519010" y="332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44029" y="8313677"/>
            <a:ext cx="109140" cy="148976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528169" y="8314074"/>
            <a:ext cx="361166" cy="149026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959343" y="8313677"/>
            <a:ext cx="109140" cy="148976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134356" y="8314074"/>
            <a:ext cx="554434" cy="152052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41437" y="8581001"/>
            <a:ext cx="610366" cy="144245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1968500" y="8778240"/>
            <a:ext cx="21513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"/>
                <a:cs typeface="Cambria"/>
              </a:rPr>
              <a:t>Full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control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over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backend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frontend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0337" y="1314061"/>
            <a:ext cx="2147066" cy="1830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358900" y="870584"/>
            <a:ext cx="3379470" cy="1401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84985">
              <a:lnSpc>
                <a:spcPct val="112900"/>
              </a:lnSpc>
              <a:spcBef>
                <a:spcPts val="100"/>
              </a:spcBef>
            </a:pPr>
            <a:r>
              <a:rPr dirty="0" sz="1100" spc="-35">
                <a:latin typeface="Cambria"/>
                <a:cs typeface="Cambria"/>
              </a:rPr>
              <a:t>Scalable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applications </a:t>
            </a:r>
            <a:r>
              <a:rPr dirty="0" sz="1100" spc="-75">
                <a:latin typeface="Cambria"/>
                <a:cs typeface="Cambria"/>
              </a:rPr>
              <a:t>Complex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flows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100">
              <a:latin typeface="Cambria"/>
              <a:cs typeface="Cambria"/>
            </a:endParaRPr>
          </a:p>
          <a:p>
            <a:pPr marL="12700" marR="430530">
              <a:lnSpc>
                <a:spcPct val="112900"/>
              </a:lnSpc>
              <a:spcBef>
                <a:spcPts val="5"/>
              </a:spcBef>
            </a:pPr>
            <a:r>
              <a:rPr dirty="0" sz="1100" spc="-45">
                <a:latin typeface="Cambria"/>
                <a:cs typeface="Cambria"/>
              </a:rPr>
              <a:t>Render</a:t>
            </a:r>
            <a:r>
              <a:rPr dirty="0" sz="1100" spc="1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–</a:t>
            </a:r>
            <a:r>
              <a:rPr dirty="0" sz="1100" spc="2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easier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than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AWS,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good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full-</a:t>
            </a:r>
            <a:r>
              <a:rPr dirty="0" sz="1100" spc="-40">
                <a:latin typeface="Cambria"/>
                <a:cs typeface="Cambria"/>
              </a:rPr>
              <a:t>stack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apps. </a:t>
            </a:r>
            <a:r>
              <a:rPr dirty="0" sz="1100" spc="-30">
                <a:latin typeface="Cambria"/>
                <a:cs typeface="Cambria"/>
              </a:rPr>
              <a:t>Railway</a:t>
            </a:r>
            <a:r>
              <a:rPr dirty="0" sz="1100" spc="1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–</a:t>
            </a:r>
            <a:r>
              <a:rPr dirty="0" sz="1100" spc="17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super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simple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backend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deploy.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</a:pPr>
            <a:r>
              <a:rPr dirty="0" sz="1100">
                <a:latin typeface="Cambria"/>
                <a:cs typeface="Cambria"/>
              </a:rPr>
              <a:t>AWS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Amplify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100">
                <a:latin typeface="Cambria"/>
                <a:cs typeface="Cambria"/>
              </a:rPr>
              <a:t>/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App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Runner</a:t>
            </a:r>
            <a:r>
              <a:rPr dirty="0" sz="1100" spc="20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–</a:t>
            </a:r>
            <a:r>
              <a:rPr dirty="0" sz="1100" spc="20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good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frontend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+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backend.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Google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Cloud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Run</a:t>
            </a:r>
            <a:r>
              <a:rPr dirty="0" sz="1100" spc="1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–</a:t>
            </a:r>
            <a:r>
              <a:rPr dirty="0" sz="1100" spc="19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container-based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deployment.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593" y="2311646"/>
            <a:ext cx="1440424" cy="38036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877" y="2926682"/>
            <a:ext cx="1229921" cy="10944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6478" y="3305142"/>
            <a:ext cx="1478310" cy="10944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1214" y="3691264"/>
            <a:ext cx="545613" cy="20915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358900" y="2698114"/>
            <a:ext cx="2103755" cy="1414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75">
                <a:latin typeface="Cambria"/>
                <a:cs typeface="Cambria"/>
              </a:rPr>
              <a:t>Choose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service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(e.g.,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Render)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65">
                <a:latin typeface="Cambria"/>
                <a:cs typeface="Cambria"/>
              </a:rPr>
              <a:t>Connect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GitHub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repo.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75">
                <a:latin typeface="Cambria"/>
                <a:cs typeface="Cambria"/>
              </a:rPr>
              <a:t>Choose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region,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build/start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commands.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5">
                <a:latin typeface="Cambria"/>
                <a:cs typeface="Cambria"/>
              </a:rPr>
              <a:t>App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gets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deployed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public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URL.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162099" y="4723139"/>
            <a:ext cx="443865" cy="159385"/>
            <a:chOff x="1162099" y="4723139"/>
            <a:chExt cx="443865" cy="159385"/>
          </a:xfrm>
        </p:grpSpPr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2099" y="4733309"/>
              <a:ext cx="75058" cy="14818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6309" y="4723139"/>
              <a:ext cx="339030" cy="159196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5010" y="4723139"/>
            <a:ext cx="531881" cy="20915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0118" y="5137396"/>
            <a:ext cx="628015" cy="144195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130300" y="5480684"/>
            <a:ext cx="5331460" cy="3873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457200">
              <a:lnSpc>
                <a:spcPts val="1410"/>
              </a:lnSpc>
              <a:spcBef>
                <a:spcPts val="170"/>
              </a:spcBef>
            </a:pPr>
            <a:r>
              <a:rPr dirty="0" sz="1200" spc="-65">
                <a:latin typeface="Cambria"/>
                <a:cs typeface="Cambria"/>
              </a:rPr>
              <a:t>Frontend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frameworks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(such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as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Next.js,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Vue,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React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in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static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mode)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static websites.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7427" y="6036556"/>
            <a:ext cx="1911841" cy="183008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130300" y="6379844"/>
            <a:ext cx="5328285" cy="56642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457200">
              <a:lnSpc>
                <a:spcPts val="1410"/>
              </a:lnSpc>
              <a:spcBef>
                <a:spcPts val="170"/>
              </a:spcBef>
            </a:pPr>
            <a:r>
              <a:rPr dirty="0" sz="1200" spc="-30">
                <a:latin typeface="Cambria"/>
                <a:cs typeface="Cambria"/>
              </a:rPr>
              <a:t>Using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Netlify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Functions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+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GoTrue,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Netlify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Identity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20">
                <a:latin typeface="Cambria"/>
                <a:cs typeface="Cambria"/>
              </a:rPr>
              <a:t>an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integrated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authentication </a:t>
            </a:r>
            <a:r>
              <a:rPr dirty="0" sz="1200" spc="-10">
                <a:latin typeface="Cambria"/>
                <a:cs typeface="Cambria"/>
              </a:rPr>
              <a:t>solution.</a:t>
            </a:r>
            <a:endParaRPr sz="1200">
              <a:latin typeface="Cambria"/>
              <a:cs typeface="Cambria"/>
            </a:endParaRPr>
          </a:p>
          <a:p>
            <a:pPr marL="469900">
              <a:lnSpc>
                <a:spcPts val="1370"/>
              </a:lnSpc>
            </a:pPr>
            <a:r>
              <a:rPr dirty="0" sz="1200" spc="-50">
                <a:latin typeface="Cambria"/>
                <a:cs typeface="Cambria"/>
              </a:rPr>
              <a:t>Ideal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serverless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20">
                <a:latin typeface="Cambria"/>
                <a:cs typeface="Cambria"/>
              </a:rPr>
              <a:t>Jamstack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applications.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55458" y="7149720"/>
            <a:ext cx="640795" cy="13534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130300" y="7513954"/>
            <a:ext cx="5510530" cy="3873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533400">
              <a:lnSpc>
                <a:spcPts val="1410"/>
              </a:lnSpc>
              <a:spcBef>
                <a:spcPts val="170"/>
              </a:spcBef>
            </a:pPr>
            <a:r>
              <a:rPr dirty="0" sz="1200">
                <a:latin typeface="Cambria"/>
                <a:cs typeface="Cambria"/>
              </a:rPr>
              <a:t>If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your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login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system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is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frontend-</a:t>
            </a:r>
            <a:r>
              <a:rPr dirty="0" sz="1200" spc="-75">
                <a:latin typeface="Cambria"/>
                <a:cs typeface="Cambria"/>
              </a:rPr>
              <a:t>focused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and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lightweight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(using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serverless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functions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OAuth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or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React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app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with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Netlify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Identity,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example).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118" y="1123570"/>
            <a:ext cx="772627" cy="1333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30300" y="1093469"/>
            <a:ext cx="5492115" cy="751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121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"/>
                <a:cs typeface="Cambria"/>
              </a:rPr>
              <a:t>: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>
              <a:latin typeface="Cambria"/>
              <a:cs typeface="Cambria"/>
            </a:endParaRPr>
          </a:p>
          <a:p>
            <a:pPr marL="12700" marR="5080" indent="533400">
              <a:lnSpc>
                <a:spcPts val="1410"/>
              </a:lnSpc>
            </a:pPr>
            <a:r>
              <a:rPr dirty="0" sz="1200" spc="-40">
                <a:latin typeface="Cambria"/>
                <a:cs typeface="Cambria"/>
              </a:rPr>
              <a:t>Serverless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functions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may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not</a:t>
            </a:r>
            <a:r>
              <a:rPr dirty="0" sz="1200" spc="10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be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able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handle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80">
                <a:latin typeface="Cambria"/>
                <a:cs typeface="Cambria"/>
              </a:rPr>
              <a:t>extensive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backend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logic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80">
                <a:latin typeface="Cambria"/>
                <a:cs typeface="Cambria"/>
              </a:rPr>
              <a:t>due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their </a:t>
            </a:r>
            <a:r>
              <a:rPr dirty="0" sz="1200" spc="-50">
                <a:latin typeface="Cambria"/>
                <a:cs typeface="Cambria"/>
              </a:rPr>
              <a:t>restricted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runtime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resources.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9697" y="2411750"/>
            <a:ext cx="149998" cy="15185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0657" y="2401580"/>
            <a:ext cx="522694" cy="1591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0118" y="2875527"/>
            <a:ext cx="628015" cy="14419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739900" y="3218815"/>
            <a:ext cx="44602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5">
                <a:latin typeface="Cambria"/>
                <a:cs typeface="Cambria"/>
              </a:rPr>
              <a:t>Frontend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frameworks,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server-</a:t>
            </a:r>
            <a:r>
              <a:rPr dirty="0" sz="1200" spc="-55">
                <a:latin typeface="Cambria"/>
                <a:cs typeface="Cambria"/>
              </a:rPr>
              <a:t>side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rendering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(SSR)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React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apps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(Next.js).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7427" y="3621651"/>
            <a:ext cx="1911841" cy="18300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130300" y="3964940"/>
            <a:ext cx="482917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6845">
              <a:lnSpc>
                <a:spcPct val="100000"/>
              </a:lnSpc>
              <a:spcBef>
                <a:spcPts val="100"/>
              </a:spcBef>
            </a:pPr>
            <a:r>
              <a:rPr dirty="0" sz="1200" spc="-65">
                <a:latin typeface="Cambria"/>
                <a:cs typeface="Cambria"/>
              </a:rPr>
              <a:t>Excellent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serverless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backend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logic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using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Next.js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API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routes.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200" spc="-45">
                <a:latin typeface="Cambria"/>
                <a:cs typeface="Cambria"/>
              </a:rPr>
              <a:t>able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incorporate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custom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auth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logic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in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API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routes,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JWT,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OAuth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providers.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5458" y="5272025"/>
            <a:ext cx="640795" cy="13534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511300" y="5636260"/>
            <a:ext cx="5020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"/>
                <a:cs typeface="Cambria"/>
              </a:rPr>
              <a:t>If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you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want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built-</a:t>
            </a:r>
            <a:r>
              <a:rPr dirty="0" sz="1200" spc="-25">
                <a:latin typeface="Cambria"/>
                <a:cs typeface="Cambria"/>
              </a:rPr>
              <a:t>in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SSR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backend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in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90">
                <a:latin typeface="Cambria"/>
                <a:cs typeface="Cambria"/>
              </a:rPr>
              <a:t>one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location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your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project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uses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Next.js.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9101" y="6043786"/>
            <a:ext cx="693802" cy="116011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130300" y="6352540"/>
            <a:ext cx="5248910" cy="3873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381000">
              <a:lnSpc>
                <a:spcPts val="1410"/>
              </a:lnSpc>
              <a:spcBef>
                <a:spcPts val="170"/>
              </a:spcBef>
            </a:pPr>
            <a:r>
              <a:rPr dirty="0" sz="1200" spc="-25">
                <a:latin typeface="Cambria"/>
                <a:cs typeface="Cambria"/>
              </a:rPr>
              <a:t>Similar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Netlify,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serverless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functionalities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have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limitations;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80">
                <a:latin typeface="Cambria"/>
                <a:cs typeface="Cambria"/>
              </a:rPr>
              <a:t>complicated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backend </a:t>
            </a:r>
            <a:r>
              <a:rPr dirty="0" sz="1200" spc="-75">
                <a:latin typeface="Cambria"/>
                <a:cs typeface="Cambria"/>
              </a:rPr>
              <a:t>authentication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may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20">
                <a:latin typeface="Cambria"/>
                <a:cs typeface="Cambria"/>
              </a:rPr>
              <a:t>call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other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services.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0966" y="7223145"/>
            <a:ext cx="479454" cy="16812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96194" y="7223145"/>
            <a:ext cx="403016" cy="16812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71997" y="7212975"/>
            <a:ext cx="818276" cy="162222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055282" y="7278013"/>
            <a:ext cx="265826" cy="9415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86752" y="7212975"/>
            <a:ext cx="717123" cy="209153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170342" y="7212975"/>
            <a:ext cx="1498153" cy="209153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130300" y="7610475"/>
            <a:ext cx="4717415" cy="62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5">
                <a:latin typeface="Cambria"/>
                <a:cs typeface="Cambria"/>
              </a:rPr>
              <a:t>Ideal</a:t>
            </a:r>
            <a:r>
              <a:rPr dirty="0" sz="1400" spc="10">
                <a:latin typeface="Cambria"/>
                <a:cs typeface="Cambria"/>
              </a:rPr>
              <a:t> </a:t>
            </a:r>
            <a:r>
              <a:rPr dirty="0" sz="1400" spc="-20">
                <a:latin typeface="Cambria"/>
                <a:cs typeface="Cambria"/>
              </a:rPr>
              <a:t>for:</a:t>
            </a:r>
            <a:endParaRPr sz="1400">
              <a:latin typeface="Cambria"/>
              <a:cs typeface="Cambria"/>
            </a:endParaRPr>
          </a:p>
          <a:p>
            <a:pPr marL="622300">
              <a:lnSpc>
                <a:spcPct val="100000"/>
              </a:lnSpc>
              <a:spcBef>
                <a:spcPts val="1625"/>
              </a:spcBef>
            </a:pPr>
            <a:r>
              <a:rPr dirty="0" sz="1200" spc="-55">
                <a:latin typeface="Cambria"/>
                <a:cs typeface="Cambria"/>
              </a:rPr>
              <a:t>Microservices,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scaling,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intricate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auth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flows,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full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control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backend.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47427" y="8462891"/>
            <a:ext cx="1911206" cy="18300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739900" y="8806180"/>
            <a:ext cx="4899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managed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authentication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services,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use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AWS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Cognito,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Google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Identity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Platform,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300" y="890905"/>
            <a:ext cx="5384165" cy="745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1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Azure</a:t>
            </a:r>
            <a:r>
              <a:rPr dirty="0" sz="1200" spc="1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AD</a:t>
            </a:r>
            <a:r>
              <a:rPr dirty="0" sz="1200" spc="10">
                <a:latin typeface="Cambria"/>
                <a:cs typeface="Cambria"/>
              </a:rPr>
              <a:t> </a:t>
            </a:r>
            <a:r>
              <a:rPr dirty="0" sz="1200" spc="-20">
                <a:latin typeface="Cambria"/>
                <a:cs typeface="Cambria"/>
              </a:rPr>
              <a:t>B2C.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ambria"/>
              <a:cs typeface="Cambria"/>
            </a:endParaRPr>
          </a:p>
          <a:p>
            <a:pPr marL="12700" marR="5715" indent="609600">
              <a:lnSpc>
                <a:spcPts val="1410"/>
              </a:lnSpc>
            </a:pPr>
            <a:r>
              <a:rPr dirty="0" sz="1200" spc="-10">
                <a:latin typeface="Cambria"/>
                <a:cs typeface="Cambria"/>
              </a:rPr>
              <a:t>Use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services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like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AWS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Lambda,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App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Engine,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Azure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Functions,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or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Kubernetes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 </a:t>
            </a:r>
            <a:r>
              <a:rPr dirty="0" sz="1200" spc="-75">
                <a:latin typeface="Cambria"/>
                <a:cs typeface="Cambria"/>
              </a:rPr>
              <a:t>deploy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85">
                <a:latin typeface="Cambria"/>
                <a:cs typeface="Cambria"/>
              </a:rPr>
              <a:t>complete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backend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APIs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(Node.js,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Python,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etc.).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458" y="1869695"/>
            <a:ext cx="640795" cy="13534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30300" y="2233929"/>
            <a:ext cx="5490210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0">
              <a:lnSpc>
                <a:spcPts val="1425"/>
              </a:lnSpc>
              <a:spcBef>
                <a:spcPts val="100"/>
              </a:spcBef>
            </a:pPr>
            <a:r>
              <a:rPr dirty="0" sz="1200">
                <a:latin typeface="Cambria"/>
                <a:cs typeface="Cambria"/>
              </a:rPr>
              <a:t>If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you're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looking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sophisticated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user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85">
                <a:latin typeface="Cambria"/>
                <a:cs typeface="Cambria"/>
              </a:rPr>
              <a:t>management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system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that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scalable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and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ts val="1425"/>
              </a:lnSpc>
            </a:pPr>
            <a:r>
              <a:rPr dirty="0" sz="1200" spc="-10">
                <a:latin typeface="Cambria"/>
                <a:cs typeface="Cambria"/>
              </a:rPr>
              <a:t>reliable.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118" y="2815836"/>
            <a:ext cx="631529" cy="14424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739900" y="3188969"/>
            <a:ext cx="372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latin typeface="Cambria"/>
                <a:cs typeface="Cambria"/>
              </a:rPr>
              <a:t>Much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more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flexible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but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requires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more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setup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management.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2025-09-27T09:18:02Z</dcterms:created>
  <dcterms:modified xsi:type="dcterms:W3CDTF">2025-09-27T09:18:02Z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2025-09-27T00:00:00Z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2025-09-27T00:00:00Z</vt:filetime>
  </property>
</Properties>
</file>